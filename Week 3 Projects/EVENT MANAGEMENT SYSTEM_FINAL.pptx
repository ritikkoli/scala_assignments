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232" y="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1108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18" Type="http://schemas.openxmlformats.org/officeDocument/2006/relationships/image" Target="../media/image43.png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10" Type="http://schemas.openxmlformats.org/officeDocument/2006/relationships/image" Target="../media/image35.png"/><Relationship Id="rId19" Type="http://schemas.openxmlformats.org/officeDocument/2006/relationships/image" Target="../media/image44.png"/><Relationship Id="rId4" Type="http://schemas.openxmlformats.org/officeDocument/2006/relationships/image" Target="../media/image14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2.png"/><Relationship Id="rId3" Type="http://schemas.openxmlformats.org/officeDocument/2006/relationships/image" Target="../media/image1.png"/><Relationship Id="rId7" Type="http://schemas.openxmlformats.org/officeDocument/2006/relationships/image" Target="../media/image47.png"/><Relationship Id="rId12" Type="http://schemas.openxmlformats.org/officeDocument/2006/relationships/image" Target="../media/image51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11" Type="http://schemas.openxmlformats.org/officeDocument/2006/relationships/image" Target="../media/image50.png"/><Relationship Id="rId5" Type="http://schemas.openxmlformats.org/officeDocument/2006/relationships/image" Target="../media/image14.png"/><Relationship Id="rId15" Type="http://schemas.openxmlformats.org/officeDocument/2006/relationships/image" Target="../media/image40.png"/><Relationship Id="rId10" Type="http://schemas.openxmlformats.org/officeDocument/2006/relationships/image" Target="../media/image20.png"/><Relationship Id="rId4" Type="http://schemas.openxmlformats.org/officeDocument/2006/relationships/image" Target="../media/image13.png"/><Relationship Id="rId9" Type="http://schemas.openxmlformats.org/officeDocument/2006/relationships/image" Target="../media/image49.png"/><Relationship Id="rId14" Type="http://schemas.openxmlformats.org/officeDocument/2006/relationships/image" Target="../media/image5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1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14.png"/><Relationship Id="rId9" Type="http://schemas.openxmlformats.org/officeDocument/2006/relationships/image" Target="../media/image5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38.png"/><Relationship Id="rId18" Type="http://schemas.openxmlformats.org/officeDocument/2006/relationships/image" Target="../media/image71.png"/><Relationship Id="rId26" Type="http://schemas.openxmlformats.org/officeDocument/2006/relationships/image" Target="../media/image79.png"/><Relationship Id="rId3" Type="http://schemas.openxmlformats.org/officeDocument/2006/relationships/image" Target="../media/image1.png"/><Relationship Id="rId21" Type="http://schemas.openxmlformats.org/officeDocument/2006/relationships/image" Target="../media/image74.png"/><Relationship Id="rId7" Type="http://schemas.openxmlformats.org/officeDocument/2006/relationships/image" Target="../media/image63.png"/><Relationship Id="rId12" Type="http://schemas.openxmlformats.org/officeDocument/2006/relationships/image" Target="../media/image67.png"/><Relationship Id="rId17" Type="http://schemas.openxmlformats.org/officeDocument/2006/relationships/image" Target="../media/image70.png"/><Relationship Id="rId25" Type="http://schemas.openxmlformats.org/officeDocument/2006/relationships/image" Target="../media/image78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69.png"/><Relationship Id="rId20" Type="http://schemas.openxmlformats.org/officeDocument/2006/relationships/image" Target="../media/image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11" Type="http://schemas.openxmlformats.org/officeDocument/2006/relationships/image" Target="../media/image66.png"/><Relationship Id="rId24" Type="http://schemas.openxmlformats.org/officeDocument/2006/relationships/image" Target="../media/image77.png"/><Relationship Id="rId5" Type="http://schemas.openxmlformats.org/officeDocument/2006/relationships/image" Target="../media/image14.png"/><Relationship Id="rId15" Type="http://schemas.openxmlformats.org/officeDocument/2006/relationships/image" Target="../media/image40.png"/><Relationship Id="rId23" Type="http://schemas.openxmlformats.org/officeDocument/2006/relationships/image" Target="../media/image76.png"/><Relationship Id="rId28" Type="http://schemas.openxmlformats.org/officeDocument/2006/relationships/image" Target="../media/image81.png"/><Relationship Id="rId10" Type="http://schemas.openxmlformats.org/officeDocument/2006/relationships/image" Target="../media/image65.png"/><Relationship Id="rId19" Type="http://schemas.openxmlformats.org/officeDocument/2006/relationships/image" Target="../media/image72.png"/><Relationship Id="rId4" Type="http://schemas.openxmlformats.org/officeDocument/2006/relationships/image" Target="../media/image13.png"/><Relationship Id="rId9" Type="http://schemas.openxmlformats.org/officeDocument/2006/relationships/image" Target="../media/image64.png"/><Relationship Id="rId14" Type="http://schemas.openxmlformats.org/officeDocument/2006/relationships/image" Target="../media/image68.png"/><Relationship Id="rId22" Type="http://schemas.openxmlformats.org/officeDocument/2006/relationships/image" Target="../media/image75.png"/><Relationship Id="rId27" Type="http://schemas.openxmlformats.org/officeDocument/2006/relationships/image" Target="../media/image8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1.pn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93.png"/><Relationship Id="rId18" Type="http://schemas.openxmlformats.org/officeDocument/2006/relationships/image" Target="../media/image98.png"/><Relationship Id="rId3" Type="http://schemas.openxmlformats.org/officeDocument/2006/relationships/image" Target="../media/image1.png"/><Relationship Id="rId21" Type="http://schemas.openxmlformats.org/officeDocument/2006/relationships/image" Target="../media/image101.png"/><Relationship Id="rId7" Type="http://schemas.openxmlformats.org/officeDocument/2006/relationships/image" Target="../media/image87.png"/><Relationship Id="rId12" Type="http://schemas.openxmlformats.org/officeDocument/2006/relationships/image" Target="../media/image92.png"/><Relationship Id="rId17" Type="http://schemas.openxmlformats.org/officeDocument/2006/relationships/image" Target="../media/image97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96.png"/><Relationship Id="rId20" Type="http://schemas.openxmlformats.org/officeDocument/2006/relationships/image" Target="../media/image10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11" Type="http://schemas.openxmlformats.org/officeDocument/2006/relationships/image" Target="../media/image91.png"/><Relationship Id="rId24" Type="http://schemas.openxmlformats.org/officeDocument/2006/relationships/image" Target="../media/image104.png"/><Relationship Id="rId5" Type="http://schemas.openxmlformats.org/officeDocument/2006/relationships/image" Target="../media/image14.png"/><Relationship Id="rId15" Type="http://schemas.openxmlformats.org/officeDocument/2006/relationships/image" Target="../media/image95.png"/><Relationship Id="rId23" Type="http://schemas.openxmlformats.org/officeDocument/2006/relationships/image" Target="../media/image103.png"/><Relationship Id="rId10" Type="http://schemas.openxmlformats.org/officeDocument/2006/relationships/image" Target="../media/image90.png"/><Relationship Id="rId19" Type="http://schemas.openxmlformats.org/officeDocument/2006/relationships/image" Target="../media/image99.png"/><Relationship Id="rId4" Type="http://schemas.openxmlformats.org/officeDocument/2006/relationships/image" Target="../media/image13.png"/><Relationship Id="rId9" Type="http://schemas.openxmlformats.org/officeDocument/2006/relationships/image" Target="../media/image89.png"/><Relationship Id="rId14" Type="http://schemas.openxmlformats.org/officeDocument/2006/relationships/image" Target="../media/image94.png"/><Relationship Id="rId22" Type="http://schemas.openxmlformats.org/officeDocument/2006/relationships/image" Target="../media/image10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13" Type="http://schemas.openxmlformats.org/officeDocument/2006/relationships/image" Target="../media/image112.png"/><Relationship Id="rId18" Type="http://schemas.openxmlformats.org/officeDocument/2006/relationships/image" Target="../media/image117.png"/><Relationship Id="rId3" Type="http://schemas.openxmlformats.org/officeDocument/2006/relationships/image" Target="../media/image1.png"/><Relationship Id="rId21" Type="http://schemas.openxmlformats.org/officeDocument/2006/relationships/image" Target="../media/image120.png"/><Relationship Id="rId7" Type="http://schemas.openxmlformats.org/officeDocument/2006/relationships/image" Target="../media/image106.png"/><Relationship Id="rId12" Type="http://schemas.openxmlformats.org/officeDocument/2006/relationships/image" Target="../media/image111.png"/><Relationship Id="rId17" Type="http://schemas.openxmlformats.org/officeDocument/2006/relationships/image" Target="../media/image116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15.png"/><Relationship Id="rId20" Type="http://schemas.openxmlformats.org/officeDocument/2006/relationships/image" Target="../media/image1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5.png"/><Relationship Id="rId11" Type="http://schemas.openxmlformats.org/officeDocument/2006/relationships/image" Target="../media/image110.png"/><Relationship Id="rId5" Type="http://schemas.openxmlformats.org/officeDocument/2006/relationships/image" Target="../media/image14.png"/><Relationship Id="rId15" Type="http://schemas.openxmlformats.org/officeDocument/2006/relationships/image" Target="../media/image114.png"/><Relationship Id="rId10" Type="http://schemas.openxmlformats.org/officeDocument/2006/relationships/image" Target="../media/image109.png"/><Relationship Id="rId19" Type="http://schemas.openxmlformats.org/officeDocument/2006/relationships/image" Target="../media/image118.png"/><Relationship Id="rId4" Type="http://schemas.openxmlformats.org/officeDocument/2006/relationships/image" Target="../media/image13.png"/><Relationship Id="rId9" Type="http://schemas.openxmlformats.org/officeDocument/2006/relationships/image" Target="../media/image108.png"/><Relationship Id="rId14" Type="http://schemas.openxmlformats.org/officeDocument/2006/relationships/image" Target="../media/image1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13" Type="http://schemas.openxmlformats.org/officeDocument/2006/relationships/image" Target="../media/image130.png"/><Relationship Id="rId3" Type="http://schemas.openxmlformats.org/officeDocument/2006/relationships/image" Target="../media/image1.png"/><Relationship Id="rId7" Type="http://schemas.openxmlformats.org/officeDocument/2006/relationships/image" Target="../media/image124.png"/><Relationship Id="rId12" Type="http://schemas.openxmlformats.org/officeDocument/2006/relationships/image" Target="../media/image1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3.png"/><Relationship Id="rId11" Type="http://schemas.openxmlformats.org/officeDocument/2006/relationships/image" Target="../media/image128.png"/><Relationship Id="rId5" Type="http://schemas.openxmlformats.org/officeDocument/2006/relationships/image" Target="../media/image122.png"/><Relationship Id="rId10" Type="http://schemas.openxmlformats.org/officeDocument/2006/relationships/image" Target="../media/image127.png"/><Relationship Id="rId4" Type="http://schemas.openxmlformats.org/officeDocument/2006/relationships/image" Target="../media/image121.png"/><Relationship Id="rId9" Type="http://schemas.openxmlformats.org/officeDocument/2006/relationships/image" Target="../media/image126.png"/><Relationship Id="rId14" Type="http://schemas.openxmlformats.org/officeDocument/2006/relationships/image" Target="../media/image1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8400" y="1028700"/>
            <a:ext cx="95250" cy="952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3600" y="1714500"/>
            <a:ext cx="95250" cy="95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4114800"/>
            <a:ext cx="95250" cy="952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4800600"/>
            <a:ext cx="95250" cy="952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743200"/>
            <a:ext cx="95250" cy="952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5975" y="2071688"/>
            <a:ext cx="400050" cy="457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15025" y="2128838"/>
            <a:ext cx="361950" cy="342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19750" y="3633788"/>
            <a:ext cx="952500" cy="47625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57204" y="4672013"/>
            <a:ext cx="1504504" cy="342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4107" y="4672013"/>
            <a:ext cx="734913" cy="342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01420" y="4672013"/>
            <a:ext cx="675382" cy="342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29202" y="4672013"/>
            <a:ext cx="705594" cy="3429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6819900"/>
            <a:ext cx="12192000" cy="381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2129790" y="2986088"/>
            <a:ext cx="793242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Event Management System</a:t>
            </a:r>
            <a:endParaRPr lang="en-US" sz="3600" dirty="0"/>
          </a:p>
        </p:txBody>
      </p:sp>
      <p:sp>
        <p:nvSpPr>
          <p:cNvPr id="22" name="Text 1"/>
          <p:cNvSpPr/>
          <p:nvPr/>
        </p:nvSpPr>
        <p:spPr>
          <a:xfrm>
            <a:off x="2790825" y="3910013"/>
            <a:ext cx="66103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A99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RITIK JANARDHAN KOLI</a:t>
            </a:r>
            <a:endParaRPr lang="en-US" sz="1800" dirty="0"/>
          </a:p>
        </p:txBody>
      </p:sp>
      <p:sp>
        <p:nvSpPr>
          <p:cNvPr id="23" name="Text 2"/>
          <p:cNvSpPr/>
          <p:nvPr/>
        </p:nvSpPr>
        <p:spPr>
          <a:xfrm>
            <a:off x="3906753" y="4672013"/>
            <a:ext cx="1805404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Play Framework</a:t>
            </a:r>
            <a:endParaRPr lang="en-US" sz="1050" dirty="0"/>
          </a:p>
        </p:txBody>
      </p:sp>
      <p:sp>
        <p:nvSpPr>
          <p:cNvPr id="24" name="Text 3"/>
          <p:cNvSpPr/>
          <p:nvPr/>
        </p:nvSpPr>
        <p:spPr>
          <a:xfrm>
            <a:off x="5640616" y="4672013"/>
            <a:ext cx="881896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Kafka</a:t>
            </a:r>
            <a:endParaRPr lang="en-US" sz="1050" dirty="0"/>
          </a:p>
        </p:txBody>
      </p:sp>
      <p:sp>
        <p:nvSpPr>
          <p:cNvPr id="25" name="Text 4"/>
          <p:cNvSpPr/>
          <p:nvPr/>
        </p:nvSpPr>
        <p:spPr>
          <a:xfrm>
            <a:off x="6601420" y="4672013"/>
            <a:ext cx="675382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Akka</a:t>
            </a:r>
            <a:endParaRPr lang="en-US" sz="1050" dirty="0"/>
          </a:p>
        </p:txBody>
      </p:sp>
      <p:sp>
        <p:nvSpPr>
          <p:cNvPr id="26" name="Text 5"/>
          <p:cNvSpPr/>
          <p:nvPr/>
        </p:nvSpPr>
        <p:spPr>
          <a:xfrm>
            <a:off x="7358643" y="4672013"/>
            <a:ext cx="846713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Scala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9144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333500"/>
            <a:ext cx="5334000" cy="12573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1562100"/>
            <a:ext cx="476250" cy="4762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7263" y="1666875"/>
            <a:ext cx="238125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333500"/>
            <a:ext cx="5334000" cy="12573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0" y="1562100"/>
            <a:ext cx="476250" cy="4762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3688" y="1666875"/>
            <a:ext cx="142875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895600"/>
            <a:ext cx="5334000" cy="12573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200" y="3124200"/>
            <a:ext cx="476250" cy="4762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1075" y="3228975"/>
            <a:ext cx="190500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2895600"/>
            <a:ext cx="5334000" cy="12573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3124200"/>
            <a:ext cx="476250" cy="4762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96063" y="3228975"/>
            <a:ext cx="238125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33900" y="4533900"/>
            <a:ext cx="609600" cy="609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38688" y="4686300"/>
            <a:ext cx="200025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72100" y="4533900"/>
            <a:ext cx="609600" cy="6096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62600" y="4686300"/>
            <a:ext cx="228600" cy="304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10300" y="4533900"/>
            <a:ext cx="609600" cy="6096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00800" y="4686300"/>
            <a:ext cx="228600" cy="304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48500" y="4533900"/>
            <a:ext cx="609600" cy="6096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53288" y="4686300"/>
            <a:ext cx="200025" cy="3048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609600" y="4572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26" name="Text 1"/>
          <p:cNvSpPr/>
          <p:nvPr/>
        </p:nvSpPr>
        <p:spPr>
          <a:xfrm>
            <a:off x="1466850" y="1562100"/>
            <a:ext cx="50977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 Coordination Challenges</a:t>
            </a:r>
            <a:endParaRPr lang="en-US" sz="1500" dirty="0"/>
          </a:p>
        </p:txBody>
      </p:sp>
      <p:sp>
        <p:nvSpPr>
          <p:cNvPr id="27" name="Text 2"/>
          <p:cNvSpPr/>
          <p:nvPr/>
        </p:nvSpPr>
        <p:spPr>
          <a:xfrm>
            <a:off x="1466850" y="1905000"/>
            <a:ext cx="42481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Event managers struggle to coordinate multiple service teams effectively, leading to inefficiencies.</a:t>
            </a:r>
            <a:endParaRPr lang="en-US" sz="1200" dirty="0"/>
          </a:p>
        </p:txBody>
      </p:sp>
      <p:sp>
        <p:nvSpPr>
          <p:cNvPr id="28" name="Text 3"/>
          <p:cNvSpPr/>
          <p:nvPr/>
        </p:nvSpPr>
        <p:spPr>
          <a:xfrm>
            <a:off x="7105650" y="1562100"/>
            <a:ext cx="50977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Manual Timeline Issues</a:t>
            </a:r>
            <a:endParaRPr lang="en-US" sz="1500" dirty="0"/>
          </a:p>
        </p:txBody>
      </p:sp>
      <p:sp>
        <p:nvSpPr>
          <p:cNvPr id="29" name="Text 4"/>
          <p:cNvSpPr/>
          <p:nvPr/>
        </p:nvSpPr>
        <p:spPr>
          <a:xfrm>
            <a:off x="7105650" y="1905000"/>
            <a:ext cx="42481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Manual timelines cause delays and miscommunication between different event components.</a:t>
            </a:r>
            <a:endParaRPr lang="en-US" sz="1200" dirty="0"/>
          </a:p>
        </p:txBody>
      </p:sp>
      <p:sp>
        <p:nvSpPr>
          <p:cNvPr id="30" name="Text 5"/>
          <p:cNvSpPr/>
          <p:nvPr/>
        </p:nvSpPr>
        <p:spPr>
          <a:xfrm>
            <a:off x="1466850" y="3124200"/>
            <a:ext cx="50977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Lack of Automated Tracking</a:t>
            </a:r>
            <a:endParaRPr lang="en-US" sz="1500" dirty="0"/>
          </a:p>
        </p:txBody>
      </p:sp>
      <p:sp>
        <p:nvSpPr>
          <p:cNvPr id="31" name="Text 6"/>
          <p:cNvSpPr/>
          <p:nvPr/>
        </p:nvSpPr>
        <p:spPr>
          <a:xfrm>
            <a:off x="1466850" y="3467100"/>
            <a:ext cx="42481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automated reminders or progress tracking systems result in missed deadlines and forgotten tasks.</a:t>
            </a:r>
            <a:endParaRPr lang="en-US" sz="1200" dirty="0"/>
          </a:p>
        </p:txBody>
      </p:sp>
      <p:sp>
        <p:nvSpPr>
          <p:cNvPr id="32" name="Text 7"/>
          <p:cNvSpPr/>
          <p:nvPr/>
        </p:nvSpPr>
        <p:spPr>
          <a:xfrm>
            <a:off x="7105650" y="3124200"/>
            <a:ext cx="50977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Real-time Notifications</a:t>
            </a:r>
            <a:endParaRPr lang="en-US" sz="1500" dirty="0"/>
          </a:p>
        </p:txBody>
      </p:sp>
      <p:sp>
        <p:nvSpPr>
          <p:cNvPr id="33" name="Text 8"/>
          <p:cNvSpPr/>
          <p:nvPr/>
        </p:nvSpPr>
        <p:spPr>
          <a:xfrm>
            <a:off x="7105650" y="3467100"/>
            <a:ext cx="42481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absence of real-time notifications or alerting systems leads to delayed responses to critical events.</a:t>
            </a:r>
            <a:endParaRPr lang="en-US" sz="1200" dirty="0"/>
          </a:p>
        </p:txBody>
      </p:sp>
      <p:sp>
        <p:nvSpPr>
          <p:cNvPr id="34" name="Text 9"/>
          <p:cNvSpPr/>
          <p:nvPr/>
        </p:nvSpPr>
        <p:spPr>
          <a:xfrm>
            <a:off x="609600" y="6515100"/>
            <a:ext cx="221099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Event Management System</a:t>
            </a:r>
            <a:endParaRPr lang="en-US" sz="1050" dirty="0"/>
          </a:p>
        </p:txBody>
      </p:sp>
      <p:sp>
        <p:nvSpPr>
          <p:cNvPr id="35" name="Text 10"/>
          <p:cNvSpPr/>
          <p:nvPr/>
        </p:nvSpPr>
        <p:spPr>
          <a:xfrm>
            <a:off x="11282809" y="6515100"/>
            <a:ext cx="35950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2/11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9144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872" y="1233489"/>
            <a:ext cx="2438400" cy="13906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5947" y="1385889"/>
            <a:ext cx="476250" cy="4762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08822" y="1490664"/>
            <a:ext cx="19050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3963" y="1228725"/>
            <a:ext cx="2438400" cy="13906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15038" y="1381125"/>
            <a:ext cx="476250" cy="4762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57913" y="1485900"/>
            <a:ext cx="190500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63978" y="1233489"/>
            <a:ext cx="2438400" cy="13906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45053" y="1385889"/>
            <a:ext cx="476250" cy="4762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64115" y="1490664"/>
            <a:ext cx="238125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778" y="2909889"/>
            <a:ext cx="2438400" cy="13906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77853" y="3062289"/>
            <a:ext cx="476250" cy="4762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18347" y="3149757"/>
            <a:ext cx="171450" cy="266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9115" y="4765987"/>
            <a:ext cx="3505200" cy="13716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1515" y="4966012"/>
            <a:ext cx="171450" cy="1714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17695" y="4781550"/>
            <a:ext cx="3505200" cy="13716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70095" y="4981575"/>
            <a:ext cx="171450" cy="17145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09585" y="4765987"/>
            <a:ext cx="3505200" cy="13716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61985" y="4966012"/>
            <a:ext cx="219075" cy="17145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609600" y="4572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SOLUTION &amp; APPROACH</a:t>
            </a:r>
            <a:endParaRPr lang="en-US" sz="2700" dirty="0"/>
          </a:p>
        </p:txBody>
      </p:sp>
      <p:sp>
        <p:nvSpPr>
          <p:cNvPr id="27" name="Text 1"/>
          <p:cNvSpPr/>
          <p:nvPr/>
        </p:nvSpPr>
        <p:spPr>
          <a:xfrm>
            <a:off x="1437322" y="1976439"/>
            <a:ext cx="1600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Play Framework</a:t>
            </a:r>
            <a:endParaRPr lang="en-US" sz="1350" dirty="0"/>
          </a:p>
        </p:txBody>
      </p:sp>
      <p:sp>
        <p:nvSpPr>
          <p:cNvPr id="28" name="Text 2"/>
          <p:cNvSpPr/>
          <p:nvPr/>
        </p:nvSpPr>
        <p:spPr>
          <a:xfrm>
            <a:off x="1262143" y="2281239"/>
            <a:ext cx="15087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Monolithic backend</a:t>
            </a:r>
            <a:endParaRPr lang="en-US" sz="1050" dirty="0"/>
          </a:p>
        </p:txBody>
      </p:sp>
      <p:sp>
        <p:nvSpPr>
          <p:cNvPr id="29" name="Text 3"/>
          <p:cNvSpPr/>
          <p:nvPr/>
        </p:nvSpPr>
        <p:spPr>
          <a:xfrm>
            <a:off x="6024563" y="1971675"/>
            <a:ext cx="5486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Kafka</a:t>
            </a:r>
            <a:endParaRPr lang="en-US" sz="1350" dirty="0"/>
          </a:p>
        </p:txBody>
      </p:sp>
      <p:sp>
        <p:nvSpPr>
          <p:cNvPr id="30" name="Text 4"/>
          <p:cNvSpPr/>
          <p:nvPr/>
        </p:nvSpPr>
        <p:spPr>
          <a:xfrm>
            <a:off x="5641658" y="2276475"/>
            <a:ext cx="12230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Message broker</a:t>
            </a:r>
            <a:endParaRPr lang="en-US" sz="1050" dirty="0"/>
          </a:p>
        </p:txBody>
      </p:sp>
      <p:sp>
        <p:nvSpPr>
          <p:cNvPr id="31" name="Text 5"/>
          <p:cNvSpPr/>
          <p:nvPr/>
        </p:nvSpPr>
        <p:spPr>
          <a:xfrm>
            <a:off x="9983153" y="1976439"/>
            <a:ext cx="4800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Akka</a:t>
            </a:r>
            <a:endParaRPr lang="en-US" sz="1350" dirty="0"/>
          </a:p>
        </p:txBody>
      </p:sp>
      <p:sp>
        <p:nvSpPr>
          <p:cNvPr id="32" name="Text 6"/>
          <p:cNvSpPr/>
          <p:nvPr/>
        </p:nvSpPr>
        <p:spPr>
          <a:xfrm>
            <a:off x="9697403" y="2281239"/>
            <a:ext cx="9715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Microservice</a:t>
            </a:r>
            <a:endParaRPr lang="en-US" sz="1050" dirty="0"/>
          </a:p>
        </p:txBody>
      </p:sp>
      <p:sp>
        <p:nvSpPr>
          <p:cNvPr id="33" name="Text 7"/>
          <p:cNvSpPr/>
          <p:nvPr/>
        </p:nvSpPr>
        <p:spPr>
          <a:xfrm>
            <a:off x="1825466" y="3652839"/>
            <a:ext cx="6972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MySQL</a:t>
            </a:r>
            <a:endParaRPr lang="en-US" sz="1350" dirty="0"/>
          </a:p>
        </p:txBody>
      </p:sp>
      <p:sp>
        <p:nvSpPr>
          <p:cNvPr id="34" name="Text 8"/>
          <p:cNvSpPr/>
          <p:nvPr/>
        </p:nvSpPr>
        <p:spPr>
          <a:xfrm>
            <a:off x="1675923" y="3957639"/>
            <a:ext cx="8801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Persistence</a:t>
            </a:r>
            <a:endParaRPr lang="en-US" sz="1050" dirty="0"/>
          </a:p>
        </p:txBody>
      </p:sp>
      <p:sp>
        <p:nvSpPr>
          <p:cNvPr id="35" name="Text 9"/>
          <p:cNvSpPr/>
          <p:nvPr/>
        </p:nvSpPr>
        <p:spPr>
          <a:xfrm>
            <a:off x="939165" y="4918387"/>
            <a:ext cx="3200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Play Framework</a:t>
            </a:r>
            <a:endParaRPr lang="en-US" sz="1350" dirty="0"/>
          </a:p>
        </p:txBody>
      </p:sp>
      <p:sp>
        <p:nvSpPr>
          <p:cNvPr id="36" name="Text 10"/>
          <p:cNvSpPr/>
          <p:nvPr/>
        </p:nvSpPr>
        <p:spPr>
          <a:xfrm>
            <a:off x="501015" y="5261287"/>
            <a:ext cx="4069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Events, Tasks, Issues, Teams management</a:t>
            </a:r>
            <a:endParaRPr lang="en-US" sz="1050" dirty="0"/>
          </a:p>
        </p:txBody>
      </p:sp>
      <p:sp>
        <p:nvSpPr>
          <p:cNvPr id="37" name="Text 11"/>
          <p:cNvSpPr/>
          <p:nvPr/>
        </p:nvSpPr>
        <p:spPr>
          <a:xfrm>
            <a:off x="501015" y="5527987"/>
            <a:ext cx="4069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REST APIs for resource manipulation</a:t>
            </a:r>
            <a:endParaRPr lang="en-US" sz="1050" dirty="0"/>
          </a:p>
        </p:txBody>
      </p:sp>
      <p:sp>
        <p:nvSpPr>
          <p:cNvPr id="39" name="Text 13"/>
          <p:cNvSpPr/>
          <p:nvPr/>
        </p:nvSpPr>
        <p:spPr>
          <a:xfrm>
            <a:off x="4817745" y="4933950"/>
            <a:ext cx="3200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Kafka</a:t>
            </a:r>
            <a:endParaRPr lang="en-US" sz="1350" dirty="0"/>
          </a:p>
        </p:txBody>
      </p:sp>
      <p:sp>
        <p:nvSpPr>
          <p:cNvPr id="40" name="Text 14"/>
          <p:cNvSpPr/>
          <p:nvPr/>
        </p:nvSpPr>
        <p:spPr>
          <a:xfrm>
            <a:off x="4379595" y="5276850"/>
            <a:ext cx="4069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Producers for event notifications</a:t>
            </a:r>
            <a:endParaRPr lang="en-US" sz="1050" dirty="0"/>
          </a:p>
        </p:txBody>
      </p:sp>
      <p:sp>
        <p:nvSpPr>
          <p:cNvPr id="41" name="Text 15"/>
          <p:cNvSpPr/>
          <p:nvPr/>
        </p:nvSpPr>
        <p:spPr>
          <a:xfrm>
            <a:off x="4379595" y="5543550"/>
            <a:ext cx="4069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Event-driven, decoupled communication</a:t>
            </a:r>
            <a:endParaRPr lang="en-US" sz="1050" dirty="0"/>
          </a:p>
        </p:txBody>
      </p:sp>
      <p:sp>
        <p:nvSpPr>
          <p:cNvPr id="42" name="Text 16"/>
          <p:cNvSpPr/>
          <p:nvPr/>
        </p:nvSpPr>
        <p:spPr>
          <a:xfrm>
            <a:off x="4379595" y="5810250"/>
            <a:ext cx="4069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Scalable message queuing</a:t>
            </a:r>
            <a:endParaRPr lang="en-US" sz="1050" dirty="0"/>
          </a:p>
        </p:txBody>
      </p:sp>
      <p:sp>
        <p:nvSpPr>
          <p:cNvPr id="43" name="Text 17"/>
          <p:cNvSpPr/>
          <p:nvPr/>
        </p:nvSpPr>
        <p:spPr>
          <a:xfrm>
            <a:off x="8557260" y="4918387"/>
            <a:ext cx="3200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Akka</a:t>
            </a:r>
            <a:endParaRPr lang="en-US" sz="1350" dirty="0"/>
          </a:p>
        </p:txBody>
      </p:sp>
      <p:sp>
        <p:nvSpPr>
          <p:cNvPr id="44" name="Text 18"/>
          <p:cNvSpPr/>
          <p:nvPr/>
        </p:nvSpPr>
        <p:spPr>
          <a:xfrm>
            <a:off x="8071485" y="5261287"/>
            <a:ext cx="4069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Consumer + Scheduler + Email service</a:t>
            </a:r>
            <a:endParaRPr lang="en-US" sz="1050" dirty="0"/>
          </a:p>
        </p:txBody>
      </p:sp>
      <p:sp>
        <p:nvSpPr>
          <p:cNvPr id="45" name="Text 19"/>
          <p:cNvSpPr/>
          <p:nvPr/>
        </p:nvSpPr>
        <p:spPr>
          <a:xfrm>
            <a:off x="8071485" y="5527987"/>
            <a:ext cx="4069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Classic </a:t>
            </a:r>
            <a:r>
              <a:rPr lang="en-US" sz="105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Actors </a:t>
            </a:r>
            <a:endParaRPr lang="en-US" sz="1050" dirty="0"/>
          </a:p>
        </p:txBody>
      </p:sp>
      <p:sp>
        <p:nvSpPr>
          <p:cNvPr id="46" name="Text 20"/>
          <p:cNvSpPr/>
          <p:nvPr/>
        </p:nvSpPr>
        <p:spPr>
          <a:xfrm>
            <a:off x="8071485" y="5794687"/>
            <a:ext cx="4069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Akka Streams for Kafka consumption</a:t>
            </a:r>
            <a:endParaRPr lang="en-US" sz="1050" dirty="0"/>
          </a:p>
        </p:txBody>
      </p:sp>
      <p:sp>
        <p:nvSpPr>
          <p:cNvPr id="47" name="Text 21"/>
          <p:cNvSpPr/>
          <p:nvPr/>
        </p:nvSpPr>
        <p:spPr>
          <a:xfrm>
            <a:off x="609600" y="6515100"/>
            <a:ext cx="221099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Event Management System</a:t>
            </a:r>
            <a:endParaRPr lang="en-US" sz="1050" dirty="0"/>
          </a:p>
        </p:txBody>
      </p:sp>
      <p:sp>
        <p:nvSpPr>
          <p:cNvPr id="48" name="Text 22"/>
          <p:cNvSpPr/>
          <p:nvPr/>
        </p:nvSpPr>
        <p:spPr>
          <a:xfrm>
            <a:off x="11282809" y="6515100"/>
            <a:ext cx="35950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3/11</a:t>
            </a:r>
            <a:endParaRPr lang="en-US" sz="1050" dirty="0"/>
          </a:p>
        </p:txBody>
      </p:sp>
      <p:sp>
        <p:nvSpPr>
          <p:cNvPr id="49" name="Right Arrow 48">
            <a:extLst>
              <a:ext uri="{FF2B5EF4-FFF2-40B4-BE49-F238E27FC236}">
                <a16:creationId xmlns:a16="http://schemas.microsoft.com/office/drawing/2014/main" id="{4372A06C-4A38-475A-CF82-4ECEA28CDBE6}"/>
              </a:ext>
            </a:extLst>
          </p:cNvPr>
          <p:cNvSpPr/>
          <p:nvPr/>
        </p:nvSpPr>
        <p:spPr>
          <a:xfrm>
            <a:off x="3323272" y="1857375"/>
            <a:ext cx="1710691" cy="2476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ight Arrow 49">
            <a:extLst>
              <a:ext uri="{FF2B5EF4-FFF2-40B4-BE49-F238E27FC236}">
                <a16:creationId xmlns:a16="http://schemas.microsoft.com/office/drawing/2014/main" id="{D5335B27-6DE8-DFDB-5DC9-8B3A67E3E59C}"/>
              </a:ext>
            </a:extLst>
          </p:cNvPr>
          <p:cNvSpPr/>
          <p:nvPr/>
        </p:nvSpPr>
        <p:spPr>
          <a:xfrm>
            <a:off x="7481888" y="1857375"/>
            <a:ext cx="1482090" cy="2476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Down Arrow 50">
            <a:extLst>
              <a:ext uri="{FF2B5EF4-FFF2-40B4-BE49-F238E27FC236}">
                <a16:creationId xmlns:a16="http://schemas.microsoft.com/office/drawing/2014/main" id="{4F053EB9-97D0-D7B4-933D-11BCF06D8EBE}"/>
              </a:ext>
            </a:extLst>
          </p:cNvPr>
          <p:cNvSpPr/>
          <p:nvPr/>
        </p:nvSpPr>
        <p:spPr>
          <a:xfrm>
            <a:off x="2008822" y="2635848"/>
            <a:ext cx="282893" cy="27404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914400"/>
            <a:ext cx="762000" cy="38100"/>
          </a:xfrm>
          <a:prstGeom prst="rect">
            <a:avLst/>
          </a:prstGeom>
        </p:spPr>
      </p:pic>
      <p:sp>
        <p:nvSpPr>
          <p:cNvPr id="29" name="Text 0"/>
          <p:cNvSpPr/>
          <p:nvPr/>
        </p:nvSpPr>
        <p:spPr>
          <a:xfrm>
            <a:off x="609600" y="4572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 DIAGRAM</a:t>
            </a:r>
            <a:endParaRPr lang="en-US" sz="2700" dirty="0"/>
          </a:p>
        </p:txBody>
      </p:sp>
      <p:sp>
        <p:nvSpPr>
          <p:cNvPr id="50" name="Text 21"/>
          <p:cNvSpPr/>
          <p:nvPr/>
        </p:nvSpPr>
        <p:spPr>
          <a:xfrm>
            <a:off x="609600" y="6515100"/>
            <a:ext cx="221099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Event Management System</a:t>
            </a:r>
            <a:endParaRPr lang="en-US" sz="1050" dirty="0"/>
          </a:p>
        </p:txBody>
      </p:sp>
      <p:sp>
        <p:nvSpPr>
          <p:cNvPr id="51" name="Text 22"/>
          <p:cNvSpPr/>
          <p:nvPr/>
        </p:nvSpPr>
        <p:spPr>
          <a:xfrm>
            <a:off x="11282809" y="6515100"/>
            <a:ext cx="35950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4/11</a:t>
            </a:r>
            <a:endParaRPr lang="en-US" sz="1050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2A5A7E6E-F1CB-72AF-21B0-BC8FBDC18C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9181" y="561919"/>
            <a:ext cx="4654769" cy="57341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1524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914400"/>
            <a:ext cx="762000" cy="38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2700" y="1543050"/>
            <a:ext cx="457200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95575" y="1638300"/>
            <a:ext cx="17145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52900" y="2047875"/>
            <a:ext cx="571500" cy="190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7400" y="1543050"/>
            <a:ext cx="457200" cy="457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00750" y="1638300"/>
            <a:ext cx="190500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67600" y="2047875"/>
            <a:ext cx="571500" cy="190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15450" y="1638300"/>
            <a:ext cx="190500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86475" y="3105150"/>
            <a:ext cx="19050" cy="381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86050" y="3810000"/>
            <a:ext cx="190500" cy="266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52900" y="4219575"/>
            <a:ext cx="571500" cy="190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00750" y="3810000"/>
            <a:ext cx="190500" cy="2667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67600" y="4219575"/>
            <a:ext cx="571500" cy="1905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24975" y="3810000"/>
            <a:ext cx="171450" cy="26670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609600" y="4572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FUNCTIONAL FLOW DIAGRAM</a:t>
            </a:r>
            <a:endParaRPr lang="en-US" sz="2700" dirty="0"/>
          </a:p>
        </p:txBody>
      </p:sp>
      <p:sp>
        <p:nvSpPr>
          <p:cNvPr id="29" name="Text 1"/>
          <p:cNvSpPr/>
          <p:nvPr/>
        </p:nvSpPr>
        <p:spPr>
          <a:xfrm>
            <a:off x="1501140" y="2114550"/>
            <a:ext cx="25603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Event Creation</a:t>
            </a:r>
            <a:endParaRPr lang="en-US" sz="1350" dirty="0"/>
          </a:p>
        </p:txBody>
      </p:sp>
      <p:sp>
        <p:nvSpPr>
          <p:cNvPr id="31" name="Text 3"/>
          <p:cNvSpPr/>
          <p:nvPr/>
        </p:nvSpPr>
        <p:spPr>
          <a:xfrm>
            <a:off x="4815840" y="2114550"/>
            <a:ext cx="25603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Event Notification</a:t>
            </a:r>
            <a:endParaRPr lang="en-US" sz="1350" dirty="0"/>
          </a:p>
        </p:txBody>
      </p:sp>
      <p:sp>
        <p:nvSpPr>
          <p:cNvPr id="32" name="Text 4"/>
          <p:cNvSpPr/>
          <p:nvPr/>
        </p:nvSpPr>
        <p:spPr>
          <a:xfrm>
            <a:off x="4815840" y="2381250"/>
            <a:ext cx="25603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Kafka Producer</a:t>
            </a:r>
            <a:endParaRPr lang="en-US" sz="1050" dirty="0"/>
          </a:p>
        </p:txBody>
      </p:sp>
      <p:sp>
        <p:nvSpPr>
          <p:cNvPr id="33" name="Text 5"/>
          <p:cNvSpPr/>
          <p:nvPr/>
        </p:nvSpPr>
        <p:spPr>
          <a:xfrm>
            <a:off x="8130540" y="2114550"/>
            <a:ext cx="25603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Task Assignment</a:t>
            </a:r>
            <a:endParaRPr lang="en-US" sz="1350" dirty="0"/>
          </a:p>
        </p:txBody>
      </p:sp>
      <p:sp>
        <p:nvSpPr>
          <p:cNvPr id="34" name="Text 6"/>
          <p:cNvSpPr/>
          <p:nvPr/>
        </p:nvSpPr>
        <p:spPr>
          <a:xfrm>
            <a:off x="8130540" y="2381250"/>
            <a:ext cx="25603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Play Framework</a:t>
            </a:r>
            <a:endParaRPr lang="en-US" sz="1050" dirty="0"/>
          </a:p>
        </p:txBody>
      </p:sp>
      <p:sp>
        <p:nvSpPr>
          <p:cNvPr id="36" name="Text 8"/>
          <p:cNvSpPr/>
          <p:nvPr/>
        </p:nvSpPr>
        <p:spPr>
          <a:xfrm>
            <a:off x="1501140" y="4552950"/>
            <a:ext cx="25603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Akka Microservice</a:t>
            </a:r>
            <a:endParaRPr lang="en-US" sz="1050" dirty="0"/>
          </a:p>
        </p:txBody>
      </p:sp>
      <p:sp>
        <p:nvSpPr>
          <p:cNvPr id="37" name="Text 9"/>
          <p:cNvSpPr/>
          <p:nvPr/>
        </p:nvSpPr>
        <p:spPr>
          <a:xfrm>
            <a:off x="4815840" y="4286250"/>
            <a:ext cx="25603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Task Completion</a:t>
            </a:r>
            <a:endParaRPr lang="en-US" sz="1350" dirty="0"/>
          </a:p>
        </p:txBody>
      </p:sp>
      <p:sp>
        <p:nvSpPr>
          <p:cNvPr id="38" name="Text 10"/>
          <p:cNvSpPr/>
          <p:nvPr/>
        </p:nvSpPr>
        <p:spPr>
          <a:xfrm>
            <a:off x="4815840" y="4552950"/>
            <a:ext cx="25603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Interface</a:t>
            </a:r>
            <a:endParaRPr lang="en-US" sz="1050" dirty="0"/>
          </a:p>
        </p:txBody>
      </p:sp>
      <p:sp>
        <p:nvSpPr>
          <p:cNvPr id="39" name="Text 11"/>
          <p:cNvSpPr/>
          <p:nvPr/>
        </p:nvSpPr>
        <p:spPr>
          <a:xfrm>
            <a:off x="8130540" y="4286250"/>
            <a:ext cx="25603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Persistence</a:t>
            </a:r>
            <a:endParaRPr lang="en-US" sz="1350" dirty="0"/>
          </a:p>
        </p:txBody>
      </p:sp>
      <p:sp>
        <p:nvSpPr>
          <p:cNvPr id="40" name="Text 12"/>
          <p:cNvSpPr/>
          <p:nvPr/>
        </p:nvSpPr>
        <p:spPr>
          <a:xfrm>
            <a:off x="8130540" y="4552950"/>
            <a:ext cx="25603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Slick ORM + MySQL</a:t>
            </a:r>
            <a:endParaRPr lang="en-US" sz="1050" dirty="0"/>
          </a:p>
        </p:txBody>
      </p:sp>
      <p:sp>
        <p:nvSpPr>
          <p:cNvPr id="41" name="Text 13"/>
          <p:cNvSpPr/>
          <p:nvPr/>
        </p:nvSpPr>
        <p:spPr>
          <a:xfrm>
            <a:off x="2438400" y="5276850"/>
            <a:ext cx="73152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system workflow demonstrates an event-driven architecture where Play Framework handles event and task management, Kafka facilitates communication between components, and Akka processes notifications and scheduling.</a:t>
            </a:r>
            <a:endParaRPr lang="en-US" sz="1350" dirty="0"/>
          </a:p>
        </p:txBody>
      </p:sp>
      <p:sp>
        <p:nvSpPr>
          <p:cNvPr id="42" name="Text 14"/>
          <p:cNvSpPr/>
          <p:nvPr/>
        </p:nvSpPr>
        <p:spPr>
          <a:xfrm>
            <a:off x="609600" y="6515100"/>
            <a:ext cx="221099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Event Management System</a:t>
            </a:r>
            <a:endParaRPr lang="en-US" sz="1050" dirty="0"/>
          </a:p>
        </p:txBody>
      </p:sp>
      <p:sp>
        <p:nvSpPr>
          <p:cNvPr id="43" name="Text 15"/>
          <p:cNvSpPr/>
          <p:nvPr/>
        </p:nvSpPr>
        <p:spPr>
          <a:xfrm>
            <a:off x="11282809" y="6515100"/>
            <a:ext cx="35950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5/11</a:t>
            </a:r>
            <a:endParaRPr lang="en-US" sz="105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4764971A-E23B-6DE7-8C9A-83E3A5F4B8B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098506" y="838200"/>
            <a:ext cx="8102769" cy="55527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914400"/>
            <a:ext cx="762000" cy="38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1333500"/>
            <a:ext cx="38100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1333500"/>
            <a:ext cx="381000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68258" y="1319212"/>
            <a:ext cx="381000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15425" y="3352800"/>
            <a:ext cx="381000" cy="381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3904" y="4914900"/>
            <a:ext cx="381000" cy="3810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72825" y="5962650"/>
            <a:ext cx="152400" cy="3810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609600" y="457200"/>
            <a:ext cx="1316736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OVERALL ARCHITECTURE DIAGRAM</a:t>
            </a:r>
            <a:endParaRPr lang="en-US" sz="2700" dirty="0"/>
          </a:p>
        </p:txBody>
      </p:sp>
      <p:sp>
        <p:nvSpPr>
          <p:cNvPr id="42" name="Text 14"/>
          <p:cNvSpPr/>
          <p:nvPr/>
        </p:nvSpPr>
        <p:spPr>
          <a:xfrm>
            <a:off x="11401425" y="5905500"/>
            <a:ext cx="6286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Flow</a:t>
            </a:r>
            <a:endParaRPr lang="en-US" sz="900" dirty="0"/>
          </a:p>
        </p:txBody>
      </p:sp>
      <p:sp>
        <p:nvSpPr>
          <p:cNvPr id="43" name="Text 15"/>
          <p:cNvSpPr/>
          <p:nvPr/>
        </p:nvSpPr>
        <p:spPr>
          <a:xfrm>
            <a:off x="609600" y="6515100"/>
            <a:ext cx="221099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Event Management System</a:t>
            </a:r>
            <a:endParaRPr lang="en-US" sz="1050" dirty="0"/>
          </a:p>
        </p:txBody>
      </p:sp>
      <p:sp>
        <p:nvSpPr>
          <p:cNvPr id="44" name="Text 16"/>
          <p:cNvSpPr/>
          <p:nvPr/>
        </p:nvSpPr>
        <p:spPr>
          <a:xfrm>
            <a:off x="11282809" y="6515100"/>
            <a:ext cx="35950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6/11</a:t>
            </a:r>
            <a:endParaRPr lang="en-US" sz="105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A7ECEC91-580E-2EC1-9119-68C72733849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20591" y="1209286"/>
            <a:ext cx="6080167" cy="50490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8382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0" y="2057400"/>
            <a:ext cx="2286000" cy="1143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5500" y="2171700"/>
            <a:ext cx="3810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0750" y="2228850"/>
            <a:ext cx="19050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09800" y="1295400"/>
            <a:ext cx="2286000" cy="1143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62300" y="1409700"/>
            <a:ext cx="3810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57550" y="1466850"/>
            <a:ext cx="190500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96200" y="1295400"/>
            <a:ext cx="2286000" cy="1143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48700" y="1409700"/>
            <a:ext cx="3810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20138" y="1466850"/>
            <a:ext cx="238125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9800" y="2819400"/>
            <a:ext cx="2286000" cy="1143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162300" y="2933700"/>
            <a:ext cx="381000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67075" y="2990850"/>
            <a:ext cx="171450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12803894">
            <a:off x="2996728" y="2231829"/>
            <a:ext cx="804427" cy="804428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44842" y="1348571"/>
            <a:ext cx="686989" cy="68699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223853" y="2567771"/>
            <a:ext cx="686989" cy="686989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844842" y="3241290"/>
            <a:ext cx="686989" cy="686989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9600" y="4267200"/>
            <a:ext cx="5410200" cy="7048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23900" y="4381500"/>
            <a:ext cx="476250" cy="4762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76300" y="4486275"/>
            <a:ext cx="171450" cy="2667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172200" y="4267200"/>
            <a:ext cx="5410200" cy="70485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286500" y="4381500"/>
            <a:ext cx="476250" cy="47625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38900" y="4486275"/>
            <a:ext cx="171450" cy="2667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9600" y="5124450"/>
            <a:ext cx="5410200" cy="70485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23900" y="5238750"/>
            <a:ext cx="476250" cy="47625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52488" y="5343525"/>
            <a:ext cx="219075" cy="2667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172200" y="5124450"/>
            <a:ext cx="5410200" cy="70485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286500" y="5238750"/>
            <a:ext cx="476250" cy="47625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448425" y="5343525"/>
            <a:ext cx="152400" cy="266700"/>
          </a:xfrm>
          <a:prstGeom prst="rect">
            <a:avLst/>
          </a:prstGeom>
        </p:spPr>
      </p:pic>
      <p:sp>
        <p:nvSpPr>
          <p:cNvPr id="33" name="Text 0"/>
          <p:cNvSpPr/>
          <p:nvPr/>
        </p:nvSpPr>
        <p:spPr>
          <a:xfrm>
            <a:off x="609600" y="3810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DEPLOYMENT PLAN</a:t>
            </a:r>
            <a:endParaRPr lang="en-US" sz="2700" dirty="0"/>
          </a:p>
        </p:txBody>
      </p:sp>
      <p:sp>
        <p:nvSpPr>
          <p:cNvPr id="34" name="Text 1"/>
          <p:cNvSpPr/>
          <p:nvPr/>
        </p:nvSpPr>
        <p:spPr>
          <a:xfrm>
            <a:off x="4861560" y="2628900"/>
            <a:ext cx="24688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Kafka Broker</a:t>
            </a:r>
            <a:endParaRPr lang="en-US" sz="1500" dirty="0"/>
          </a:p>
        </p:txBody>
      </p:sp>
      <p:sp>
        <p:nvSpPr>
          <p:cNvPr id="35" name="Text 2"/>
          <p:cNvSpPr/>
          <p:nvPr/>
        </p:nvSpPr>
        <p:spPr>
          <a:xfrm>
            <a:off x="4861560" y="2895600"/>
            <a:ext cx="24688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Hosted Locally</a:t>
            </a:r>
            <a:endParaRPr lang="en-US" sz="1050" dirty="0"/>
          </a:p>
        </p:txBody>
      </p:sp>
      <p:sp>
        <p:nvSpPr>
          <p:cNvPr id="36" name="Text 3"/>
          <p:cNvSpPr/>
          <p:nvPr/>
        </p:nvSpPr>
        <p:spPr>
          <a:xfrm>
            <a:off x="2118360" y="1866900"/>
            <a:ext cx="24688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Play Monolith</a:t>
            </a:r>
            <a:endParaRPr lang="en-US" sz="1500" dirty="0"/>
          </a:p>
        </p:txBody>
      </p:sp>
      <p:sp>
        <p:nvSpPr>
          <p:cNvPr id="37" name="Text 4"/>
          <p:cNvSpPr/>
          <p:nvPr/>
        </p:nvSpPr>
        <p:spPr>
          <a:xfrm>
            <a:off x="2118360" y="2133600"/>
            <a:ext cx="24688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Deployed Locally</a:t>
            </a:r>
            <a:endParaRPr lang="en-US" sz="1050" dirty="0"/>
          </a:p>
        </p:txBody>
      </p:sp>
      <p:sp>
        <p:nvSpPr>
          <p:cNvPr id="38" name="Text 5"/>
          <p:cNvSpPr/>
          <p:nvPr/>
        </p:nvSpPr>
        <p:spPr>
          <a:xfrm>
            <a:off x="7604760" y="1866900"/>
            <a:ext cx="24688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Akka Microservice</a:t>
            </a:r>
            <a:endParaRPr lang="en-US" sz="1500" dirty="0"/>
          </a:p>
        </p:txBody>
      </p:sp>
      <p:sp>
        <p:nvSpPr>
          <p:cNvPr id="39" name="Text 6"/>
          <p:cNvSpPr/>
          <p:nvPr/>
        </p:nvSpPr>
        <p:spPr>
          <a:xfrm>
            <a:off x="7604760" y="2133600"/>
            <a:ext cx="24688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Deployed Separately</a:t>
            </a:r>
            <a:endParaRPr lang="en-US" sz="1050" dirty="0"/>
          </a:p>
        </p:txBody>
      </p:sp>
      <p:sp>
        <p:nvSpPr>
          <p:cNvPr id="40" name="Text 7"/>
          <p:cNvSpPr/>
          <p:nvPr/>
        </p:nvSpPr>
        <p:spPr>
          <a:xfrm>
            <a:off x="2118360" y="3390900"/>
            <a:ext cx="24688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MySQL Database</a:t>
            </a:r>
            <a:endParaRPr lang="en-US" sz="1500" dirty="0"/>
          </a:p>
        </p:txBody>
      </p:sp>
      <p:sp>
        <p:nvSpPr>
          <p:cNvPr id="41" name="Text 8"/>
          <p:cNvSpPr/>
          <p:nvPr/>
        </p:nvSpPr>
        <p:spPr>
          <a:xfrm>
            <a:off x="2118360" y="3657600"/>
            <a:ext cx="24688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Persistent Storage</a:t>
            </a:r>
            <a:endParaRPr lang="en-US" sz="1050" dirty="0"/>
          </a:p>
        </p:txBody>
      </p:sp>
      <p:sp>
        <p:nvSpPr>
          <p:cNvPr id="42" name="Text 9"/>
          <p:cNvSpPr/>
          <p:nvPr/>
        </p:nvSpPr>
        <p:spPr>
          <a:xfrm>
            <a:off x="1314450" y="4391025"/>
            <a:ext cx="442912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Play Framework</a:t>
            </a:r>
            <a:endParaRPr lang="en-US" sz="1350" dirty="0"/>
          </a:p>
        </p:txBody>
      </p:sp>
      <p:sp>
        <p:nvSpPr>
          <p:cNvPr id="43" name="Text 10"/>
          <p:cNvSpPr/>
          <p:nvPr/>
        </p:nvSpPr>
        <p:spPr>
          <a:xfrm>
            <a:off x="1314450" y="4657725"/>
            <a:ext cx="53149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Monolithic backend deployed locally, serving as main API entry point.</a:t>
            </a:r>
            <a:endParaRPr lang="en-US" sz="1050" dirty="0"/>
          </a:p>
        </p:txBody>
      </p:sp>
      <p:sp>
        <p:nvSpPr>
          <p:cNvPr id="44" name="Text 11"/>
          <p:cNvSpPr/>
          <p:nvPr/>
        </p:nvSpPr>
        <p:spPr>
          <a:xfrm>
            <a:off x="6877050" y="4391025"/>
            <a:ext cx="37909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Kafka</a:t>
            </a:r>
            <a:endParaRPr lang="en-US" sz="1350" dirty="0"/>
          </a:p>
        </p:txBody>
      </p:sp>
      <p:sp>
        <p:nvSpPr>
          <p:cNvPr id="45" name="Text 12"/>
          <p:cNvSpPr/>
          <p:nvPr/>
        </p:nvSpPr>
        <p:spPr>
          <a:xfrm>
            <a:off x="6877050" y="4657725"/>
            <a:ext cx="45491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Broker hosted locally, facilitating communication via topics.</a:t>
            </a:r>
            <a:endParaRPr lang="en-US" sz="1050" dirty="0"/>
          </a:p>
        </p:txBody>
      </p:sp>
      <p:sp>
        <p:nvSpPr>
          <p:cNvPr id="46" name="Text 13"/>
          <p:cNvSpPr/>
          <p:nvPr/>
        </p:nvSpPr>
        <p:spPr>
          <a:xfrm>
            <a:off x="1314450" y="5248275"/>
            <a:ext cx="43053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Akka Microservice</a:t>
            </a:r>
            <a:endParaRPr lang="en-US" sz="1350" dirty="0"/>
          </a:p>
        </p:txBody>
      </p:sp>
      <p:sp>
        <p:nvSpPr>
          <p:cNvPr id="47" name="Text 14"/>
          <p:cNvSpPr/>
          <p:nvPr/>
        </p:nvSpPr>
        <p:spPr>
          <a:xfrm>
            <a:off x="1314450" y="5514975"/>
            <a:ext cx="51663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Separately deployed, handles Kafka consumption and notifications.</a:t>
            </a:r>
            <a:endParaRPr lang="en-US" sz="1050" dirty="0"/>
          </a:p>
        </p:txBody>
      </p:sp>
      <p:sp>
        <p:nvSpPr>
          <p:cNvPr id="48" name="Text 15"/>
          <p:cNvSpPr/>
          <p:nvPr/>
        </p:nvSpPr>
        <p:spPr>
          <a:xfrm>
            <a:off x="6877050" y="5248275"/>
            <a:ext cx="427672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MySQL</a:t>
            </a:r>
            <a:endParaRPr lang="en-US" sz="1350" dirty="0"/>
          </a:p>
        </p:txBody>
      </p:sp>
      <p:sp>
        <p:nvSpPr>
          <p:cNvPr id="49" name="Text 16"/>
          <p:cNvSpPr/>
          <p:nvPr/>
        </p:nvSpPr>
        <p:spPr>
          <a:xfrm>
            <a:off x="6877050" y="5514975"/>
            <a:ext cx="51320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Database for persistence, integrated with Play Framework via Slick.</a:t>
            </a:r>
            <a:endParaRPr lang="en-US" sz="1050" dirty="0"/>
          </a:p>
        </p:txBody>
      </p:sp>
      <p:sp>
        <p:nvSpPr>
          <p:cNvPr id="50" name="Text 17"/>
          <p:cNvSpPr/>
          <p:nvPr/>
        </p:nvSpPr>
        <p:spPr>
          <a:xfrm>
            <a:off x="609600" y="6515100"/>
            <a:ext cx="221099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Event Management System</a:t>
            </a:r>
            <a:endParaRPr lang="en-US" sz="1050" dirty="0"/>
          </a:p>
        </p:txBody>
      </p:sp>
      <p:sp>
        <p:nvSpPr>
          <p:cNvPr id="51" name="Text 18"/>
          <p:cNvSpPr/>
          <p:nvPr/>
        </p:nvSpPr>
        <p:spPr>
          <a:xfrm>
            <a:off x="11282809" y="6515100"/>
            <a:ext cx="35950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7/11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762000"/>
            <a:ext cx="762000" cy="381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7700" y="1028700"/>
            <a:ext cx="381000" cy="3810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609600" y="3810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OUTPUT</a:t>
            </a:r>
            <a:endParaRPr lang="en-US" sz="2700" dirty="0"/>
          </a:p>
        </p:txBody>
      </p:sp>
      <p:sp>
        <p:nvSpPr>
          <p:cNvPr id="48" name="Text 22"/>
          <p:cNvSpPr/>
          <p:nvPr/>
        </p:nvSpPr>
        <p:spPr>
          <a:xfrm>
            <a:off x="609600" y="6515100"/>
            <a:ext cx="221099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Event Management System</a:t>
            </a:r>
            <a:endParaRPr lang="en-US" sz="1050" dirty="0"/>
          </a:p>
        </p:txBody>
      </p:sp>
      <p:sp>
        <p:nvSpPr>
          <p:cNvPr id="49" name="Text 23"/>
          <p:cNvSpPr/>
          <p:nvPr/>
        </p:nvSpPr>
        <p:spPr>
          <a:xfrm>
            <a:off x="11282809" y="6515100"/>
            <a:ext cx="35950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8/11</a:t>
            </a:r>
            <a:endParaRPr lang="en-US" sz="1050" dirty="0"/>
          </a:p>
        </p:txBody>
      </p:sp>
      <p:pic>
        <p:nvPicPr>
          <p:cNvPr id="50" name="Content Placeholder 3">
            <a:extLst>
              <a:ext uri="{FF2B5EF4-FFF2-40B4-BE49-F238E27FC236}">
                <a16:creationId xmlns:a16="http://schemas.microsoft.com/office/drawing/2014/main" id="{9E17A18E-B042-8922-292E-75EC8766DE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411" y="1028700"/>
            <a:ext cx="4168239" cy="5360461"/>
          </a:xfrm>
          <a:prstGeom prst="rect">
            <a:avLst/>
          </a:prstGeom>
        </p:spPr>
      </p:pic>
      <p:pic>
        <p:nvPicPr>
          <p:cNvPr id="51" name="Content Placeholder 3">
            <a:extLst>
              <a:ext uri="{FF2B5EF4-FFF2-40B4-BE49-F238E27FC236}">
                <a16:creationId xmlns:a16="http://schemas.microsoft.com/office/drawing/2014/main" id="{81A4D373-2BCC-3E2E-CA40-7435BD73FF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6832" y="1028700"/>
            <a:ext cx="3371415" cy="3057525"/>
          </a:xfrm>
          <a:prstGeom prst="rect">
            <a:avLst/>
          </a:prstGeom>
        </p:spPr>
      </p:pic>
      <p:pic>
        <p:nvPicPr>
          <p:cNvPr id="52" name="Content Placeholder 3">
            <a:extLst>
              <a:ext uri="{FF2B5EF4-FFF2-40B4-BE49-F238E27FC236}">
                <a16:creationId xmlns:a16="http://schemas.microsoft.com/office/drawing/2014/main" id="{34F39B25-265C-774D-6AC6-DD5358AFF0D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6430" y="1028700"/>
            <a:ext cx="3739614" cy="31735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9144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333500"/>
            <a:ext cx="5372100" cy="1828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1524000"/>
            <a:ext cx="3810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1562100"/>
            <a:ext cx="3048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300" y="2076450"/>
            <a:ext cx="171450" cy="190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6300" y="2381250"/>
            <a:ext cx="104775" cy="190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6300" y="2686050"/>
            <a:ext cx="133350" cy="190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1333500"/>
            <a:ext cx="5372100" cy="1828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1524000"/>
            <a:ext cx="3810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7000" y="1562100"/>
            <a:ext cx="2286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2076450"/>
            <a:ext cx="133350" cy="190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7000" y="2686050"/>
            <a:ext cx="114300" cy="190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3390900"/>
            <a:ext cx="5372100" cy="1828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0100" y="3581400"/>
            <a:ext cx="381000" cy="381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0100" y="3619500"/>
            <a:ext cx="38100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6300" y="4133850"/>
            <a:ext cx="171450" cy="1905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76300" y="4438650"/>
            <a:ext cx="133350" cy="1905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6300" y="4743450"/>
            <a:ext cx="133350" cy="1905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3390900"/>
            <a:ext cx="5372100" cy="1828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00800" y="3581400"/>
            <a:ext cx="381000" cy="3810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00800" y="3619500"/>
            <a:ext cx="381000" cy="3048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77000" y="4133850"/>
            <a:ext cx="133350" cy="1905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77000" y="4743450"/>
            <a:ext cx="133350" cy="190500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609600" y="4572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 FEATURES IMPLEMENTED</a:t>
            </a:r>
            <a:endParaRPr lang="en-US" sz="2700" dirty="0"/>
          </a:p>
        </p:txBody>
      </p:sp>
      <p:sp>
        <p:nvSpPr>
          <p:cNvPr id="28" name="Text 1"/>
          <p:cNvSpPr/>
          <p:nvPr/>
        </p:nvSpPr>
        <p:spPr>
          <a:xfrm>
            <a:off x="1295400" y="1562100"/>
            <a:ext cx="685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Scala</a:t>
            </a:r>
            <a:endParaRPr lang="en-US" sz="1800" dirty="0"/>
          </a:p>
        </p:txBody>
      </p:sp>
      <p:sp>
        <p:nvSpPr>
          <p:cNvPr id="29" name="Text 2"/>
          <p:cNvSpPr/>
          <p:nvPr/>
        </p:nvSpPr>
        <p:spPr>
          <a:xfrm>
            <a:off x="1143000" y="2057400"/>
            <a:ext cx="34518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Functional + OOP mix using case classes</a:t>
            </a:r>
            <a:endParaRPr lang="en-US" sz="1200" dirty="0"/>
          </a:p>
        </p:txBody>
      </p:sp>
      <p:sp>
        <p:nvSpPr>
          <p:cNvPr id="30" name="Text 3"/>
          <p:cNvSpPr/>
          <p:nvPr/>
        </p:nvSpPr>
        <p:spPr>
          <a:xfrm>
            <a:off x="1076325" y="2362200"/>
            <a:ext cx="25260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Async operations with Future</a:t>
            </a:r>
            <a:endParaRPr lang="en-US" sz="1200" dirty="0"/>
          </a:p>
        </p:txBody>
      </p:sp>
      <p:sp>
        <p:nvSpPr>
          <p:cNvPr id="31" name="Text 4"/>
          <p:cNvSpPr/>
          <p:nvPr/>
        </p:nvSpPr>
        <p:spPr>
          <a:xfrm>
            <a:off x="1104900" y="2667000"/>
            <a:ext cx="28003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Type-safe models &amp; DB mapping</a:t>
            </a:r>
            <a:endParaRPr lang="en-US" sz="1200" dirty="0"/>
          </a:p>
        </p:txBody>
      </p:sp>
      <p:sp>
        <p:nvSpPr>
          <p:cNvPr id="32" name="Text 5"/>
          <p:cNvSpPr/>
          <p:nvPr/>
        </p:nvSpPr>
        <p:spPr>
          <a:xfrm>
            <a:off x="6896100" y="1562100"/>
            <a:ext cx="21488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Play Framework</a:t>
            </a:r>
            <a:endParaRPr lang="en-US" sz="1800" dirty="0"/>
          </a:p>
        </p:txBody>
      </p:sp>
      <p:sp>
        <p:nvSpPr>
          <p:cNvPr id="33" name="Text 6"/>
          <p:cNvSpPr/>
          <p:nvPr/>
        </p:nvSpPr>
        <p:spPr>
          <a:xfrm>
            <a:off x="6705600" y="2057400"/>
            <a:ext cx="29032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REST APIs for Events/Tasks/Issues</a:t>
            </a:r>
            <a:endParaRPr lang="en-US" sz="1200" dirty="0"/>
          </a:p>
        </p:txBody>
      </p:sp>
      <p:sp>
        <p:nvSpPr>
          <p:cNvPr id="34" name="Text 7"/>
          <p:cNvSpPr/>
          <p:nvPr/>
        </p:nvSpPr>
        <p:spPr>
          <a:xfrm>
            <a:off x="6572250" y="2362200"/>
            <a:ext cx="24574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JSON handling with play-json</a:t>
            </a:r>
            <a:endParaRPr lang="en-US" sz="1200" dirty="0"/>
          </a:p>
        </p:txBody>
      </p:sp>
      <p:sp>
        <p:nvSpPr>
          <p:cNvPr id="35" name="Text 8"/>
          <p:cNvSpPr/>
          <p:nvPr/>
        </p:nvSpPr>
        <p:spPr>
          <a:xfrm>
            <a:off x="6686550" y="2667000"/>
            <a:ext cx="3429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Slick integration for type-safe DB access</a:t>
            </a:r>
            <a:endParaRPr lang="en-US" sz="1200" dirty="0"/>
          </a:p>
        </p:txBody>
      </p:sp>
      <p:sp>
        <p:nvSpPr>
          <p:cNvPr id="36" name="Text 9"/>
          <p:cNvSpPr/>
          <p:nvPr/>
        </p:nvSpPr>
        <p:spPr>
          <a:xfrm>
            <a:off x="1295400" y="3619500"/>
            <a:ext cx="6629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Akka</a:t>
            </a:r>
            <a:endParaRPr lang="en-US" sz="1800" dirty="0"/>
          </a:p>
        </p:txBody>
      </p:sp>
      <p:sp>
        <p:nvSpPr>
          <p:cNvPr id="37" name="Text 10"/>
          <p:cNvSpPr/>
          <p:nvPr/>
        </p:nvSpPr>
        <p:spPr>
          <a:xfrm>
            <a:off x="1143000" y="4114800"/>
            <a:ext cx="36690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Actors for processing &amp; email notifications</a:t>
            </a:r>
            <a:endParaRPr lang="en-US" sz="1200" dirty="0"/>
          </a:p>
        </p:txBody>
      </p:sp>
      <p:sp>
        <p:nvSpPr>
          <p:cNvPr id="38" name="Text 11"/>
          <p:cNvSpPr/>
          <p:nvPr/>
        </p:nvSpPr>
        <p:spPr>
          <a:xfrm>
            <a:off x="1104900" y="4419600"/>
            <a:ext cx="31775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Akka Streams for Kafka consumption</a:t>
            </a:r>
            <a:endParaRPr lang="en-US" sz="1200" dirty="0"/>
          </a:p>
        </p:txBody>
      </p:sp>
      <p:sp>
        <p:nvSpPr>
          <p:cNvPr id="39" name="Text 12"/>
          <p:cNvSpPr/>
          <p:nvPr/>
        </p:nvSpPr>
        <p:spPr>
          <a:xfrm>
            <a:off x="1104900" y="4724400"/>
            <a:ext cx="28689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Scheduler for periodic reminders</a:t>
            </a:r>
            <a:endParaRPr lang="en-US" sz="1200" dirty="0"/>
          </a:p>
        </p:txBody>
      </p:sp>
      <p:sp>
        <p:nvSpPr>
          <p:cNvPr id="40" name="Text 13"/>
          <p:cNvSpPr/>
          <p:nvPr/>
        </p:nvSpPr>
        <p:spPr>
          <a:xfrm>
            <a:off x="6896100" y="3619500"/>
            <a:ext cx="7543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Kafka</a:t>
            </a:r>
            <a:endParaRPr lang="en-US" sz="1800" dirty="0"/>
          </a:p>
        </p:txBody>
      </p:sp>
      <p:sp>
        <p:nvSpPr>
          <p:cNvPr id="41" name="Text 14"/>
          <p:cNvSpPr/>
          <p:nvPr/>
        </p:nvSpPr>
        <p:spPr>
          <a:xfrm>
            <a:off x="6705600" y="4114800"/>
            <a:ext cx="34632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Play app publishes event/task messages</a:t>
            </a:r>
            <a:endParaRPr lang="en-US" sz="1200" dirty="0"/>
          </a:p>
        </p:txBody>
      </p:sp>
      <p:sp>
        <p:nvSpPr>
          <p:cNvPr id="42" name="Text 15"/>
          <p:cNvSpPr/>
          <p:nvPr/>
        </p:nvSpPr>
        <p:spPr>
          <a:xfrm>
            <a:off x="6572250" y="4419600"/>
            <a:ext cx="45148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Akka microservice consumes &amp; triggers notifications</a:t>
            </a:r>
            <a:endParaRPr lang="en-US" sz="1200" dirty="0"/>
          </a:p>
        </p:txBody>
      </p:sp>
      <p:sp>
        <p:nvSpPr>
          <p:cNvPr id="43" name="Text 16"/>
          <p:cNvSpPr/>
          <p:nvPr/>
        </p:nvSpPr>
        <p:spPr>
          <a:xfrm>
            <a:off x="6705600" y="4724400"/>
            <a:ext cx="34975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Event-driven, decoupled communication</a:t>
            </a:r>
            <a:endParaRPr lang="en-US" sz="1200" dirty="0"/>
          </a:p>
        </p:txBody>
      </p:sp>
      <p:sp>
        <p:nvSpPr>
          <p:cNvPr id="44" name="Text 17"/>
          <p:cNvSpPr/>
          <p:nvPr/>
        </p:nvSpPr>
        <p:spPr>
          <a:xfrm>
            <a:off x="609600" y="6515100"/>
            <a:ext cx="221099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Event Management System</a:t>
            </a:r>
            <a:endParaRPr lang="en-US" sz="1050" dirty="0"/>
          </a:p>
        </p:txBody>
      </p:sp>
      <p:sp>
        <p:nvSpPr>
          <p:cNvPr id="45" name="Text 18"/>
          <p:cNvSpPr/>
          <p:nvPr/>
        </p:nvSpPr>
        <p:spPr>
          <a:xfrm>
            <a:off x="11282809" y="6515100"/>
            <a:ext cx="35950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9/11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8382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219200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638300"/>
            <a:ext cx="5334000" cy="1028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1790700"/>
            <a:ext cx="381000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5825" y="1905000"/>
            <a:ext cx="13335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2819400"/>
            <a:ext cx="5334000" cy="1028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2971800"/>
            <a:ext cx="38100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6775" y="3086100"/>
            <a:ext cx="17145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4000500"/>
            <a:ext cx="5334000" cy="1028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4152900"/>
            <a:ext cx="381000" cy="381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5825" y="4267200"/>
            <a:ext cx="13335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48400" y="1219200"/>
            <a:ext cx="228600" cy="228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48400" y="1638300"/>
            <a:ext cx="5334000" cy="1028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1790700"/>
            <a:ext cx="381000" cy="381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15100" y="190500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48400" y="2819400"/>
            <a:ext cx="5334000" cy="1028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00800" y="2971800"/>
            <a:ext cx="381000" cy="3810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34150" y="3086100"/>
            <a:ext cx="1143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48400" y="4000500"/>
            <a:ext cx="5334000" cy="10287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4152900"/>
            <a:ext cx="381000" cy="3810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15100" y="4267200"/>
            <a:ext cx="152400" cy="1524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609600" y="3810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 &amp; FUTURE SCOPE</a:t>
            </a:r>
            <a:endParaRPr lang="en-US" sz="2700" dirty="0"/>
          </a:p>
        </p:txBody>
      </p:sp>
      <p:sp>
        <p:nvSpPr>
          <p:cNvPr id="26" name="Text 1"/>
          <p:cNvSpPr/>
          <p:nvPr/>
        </p:nvSpPr>
        <p:spPr>
          <a:xfrm>
            <a:off x="914400" y="1181100"/>
            <a:ext cx="5334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 Outcomes</a:t>
            </a:r>
            <a:endParaRPr lang="en-US" sz="1800" dirty="0"/>
          </a:p>
        </p:txBody>
      </p:sp>
      <p:sp>
        <p:nvSpPr>
          <p:cNvPr id="27" name="Text 2"/>
          <p:cNvSpPr/>
          <p:nvPr/>
        </p:nvSpPr>
        <p:spPr>
          <a:xfrm>
            <a:off x="1257300" y="1790700"/>
            <a:ext cx="4533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Event Coordination</a:t>
            </a:r>
            <a:endParaRPr lang="en-US" sz="1350" dirty="0"/>
          </a:p>
        </p:txBody>
      </p:sp>
      <p:sp>
        <p:nvSpPr>
          <p:cNvPr id="28" name="Text 3"/>
          <p:cNvSpPr/>
          <p:nvPr/>
        </p:nvSpPr>
        <p:spPr>
          <a:xfrm>
            <a:off x="1257300" y="2057400"/>
            <a:ext cx="45339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Successfully integrated multiple service teams through a unified event management platform.</a:t>
            </a:r>
            <a:endParaRPr lang="en-US" sz="1200" dirty="0"/>
          </a:p>
        </p:txBody>
      </p:sp>
      <p:sp>
        <p:nvSpPr>
          <p:cNvPr id="29" name="Text 4"/>
          <p:cNvSpPr/>
          <p:nvPr/>
        </p:nvSpPr>
        <p:spPr>
          <a:xfrm>
            <a:off x="1257300" y="2971800"/>
            <a:ext cx="4533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System Efficiency</a:t>
            </a:r>
            <a:endParaRPr lang="en-US" sz="1350" dirty="0"/>
          </a:p>
        </p:txBody>
      </p:sp>
      <p:sp>
        <p:nvSpPr>
          <p:cNvPr id="30" name="Text 5"/>
          <p:cNvSpPr/>
          <p:nvPr/>
        </p:nvSpPr>
        <p:spPr>
          <a:xfrm>
            <a:off x="1257300" y="3238500"/>
            <a:ext cx="45339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Reduced delays and improved coordination through automated workflows and real-time notifications.</a:t>
            </a:r>
            <a:endParaRPr lang="en-US" sz="1200" dirty="0"/>
          </a:p>
        </p:txBody>
      </p:sp>
      <p:sp>
        <p:nvSpPr>
          <p:cNvPr id="31" name="Text 6"/>
          <p:cNvSpPr/>
          <p:nvPr/>
        </p:nvSpPr>
        <p:spPr>
          <a:xfrm>
            <a:off x="1257300" y="4152900"/>
            <a:ext cx="54406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Technology Implementation</a:t>
            </a:r>
            <a:endParaRPr lang="en-US" sz="1350" dirty="0"/>
          </a:p>
        </p:txBody>
      </p:sp>
      <p:sp>
        <p:nvSpPr>
          <p:cNvPr id="32" name="Text 7"/>
          <p:cNvSpPr/>
          <p:nvPr/>
        </p:nvSpPr>
        <p:spPr>
          <a:xfrm>
            <a:off x="1257300" y="4419600"/>
            <a:ext cx="45339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Successfully implemented Play Framework, Kafka, and Akka to create a robust event management system.</a:t>
            </a:r>
            <a:endParaRPr lang="en-US" sz="1200" dirty="0"/>
          </a:p>
        </p:txBody>
      </p:sp>
      <p:sp>
        <p:nvSpPr>
          <p:cNvPr id="33" name="Text 8"/>
          <p:cNvSpPr/>
          <p:nvPr/>
        </p:nvSpPr>
        <p:spPr>
          <a:xfrm>
            <a:off x="6553200" y="1181100"/>
            <a:ext cx="5334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34" name="Text 9"/>
          <p:cNvSpPr/>
          <p:nvPr/>
        </p:nvSpPr>
        <p:spPr>
          <a:xfrm>
            <a:off x="6896100" y="1790700"/>
            <a:ext cx="54406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Scalability Enhancements</a:t>
            </a:r>
            <a:endParaRPr lang="en-US" sz="1350" dirty="0"/>
          </a:p>
        </p:txBody>
      </p:sp>
      <p:sp>
        <p:nvSpPr>
          <p:cNvPr id="35" name="Text 10"/>
          <p:cNvSpPr/>
          <p:nvPr/>
        </p:nvSpPr>
        <p:spPr>
          <a:xfrm>
            <a:off x="6896100" y="2057400"/>
            <a:ext cx="45339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 cluster scaling and load distribution for handling larger events and higher concurrency.</a:t>
            </a:r>
            <a:endParaRPr lang="en-US" sz="1200" dirty="0"/>
          </a:p>
        </p:txBody>
      </p:sp>
      <p:sp>
        <p:nvSpPr>
          <p:cNvPr id="36" name="Text 11"/>
          <p:cNvSpPr/>
          <p:nvPr/>
        </p:nvSpPr>
        <p:spPr>
          <a:xfrm>
            <a:off x="6896100" y="2971800"/>
            <a:ext cx="4533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Mobile Application</a:t>
            </a:r>
            <a:endParaRPr lang="en-US" sz="1350" dirty="0"/>
          </a:p>
        </p:txBody>
      </p:sp>
      <p:sp>
        <p:nvSpPr>
          <p:cNvPr id="37" name="Text 12"/>
          <p:cNvSpPr/>
          <p:nvPr/>
        </p:nvSpPr>
        <p:spPr>
          <a:xfrm>
            <a:off x="6896100" y="3238500"/>
            <a:ext cx="45339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 native mobile apps for iOS and Android to provide on-the-go access to event information.</a:t>
            </a:r>
            <a:endParaRPr lang="en-US" sz="1200" dirty="0"/>
          </a:p>
        </p:txBody>
      </p:sp>
      <p:sp>
        <p:nvSpPr>
          <p:cNvPr id="38" name="Text 13"/>
          <p:cNvSpPr/>
          <p:nvPr/>
        </p:nvSpPr>
        <p:spPr>
          <a:xfrm>
            <a:off x="6896100" y="4152900"/>
            <a:ext cx="4533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Integration</a:t>
            </a:r>
            <a:endParaRPr lang="en-US" sz="1350" dirty="0"/>
          </a:p>
        </p:txBody>
      </p:sp>
      <p:sp>
        <p:nvSpPr>
          <p:cNvPr id="39" name="Text 14"/>
          <p:cNvSpPr/>
          <p:nvPr/>
        </p:nvSpPr>
        <p:spPr>
          <a:xfrm>
            <a:off x="6896100" y="4419600"/>
            <a:ext cx="45339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Incorporate machine learning for predictive analytics and intelligent task allocation.</a:t>
            </a:r>
            <a:endParaRPr lang="en-US" sz="1200" dirty="0"/>
          </a:p>
        </p:txBody>
      </p:sp>
      <p:sp>
        <p:nvSpPr>
          <p:cNvPr id="40" name="Text 15"/>
          <p:cNvSpPr/>
          <p:nvPr/>
        </p:nvSpPr>
        <p:spPr>
          <a:xfrm>
            <a:off x="609600" y="6515100"/>
            <a:ext cx="221099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Event Management System</a:t>
            </a:r>
            <a:endParaRPr lang="en-US" sz="1050" dirty="0"/>
          </a:p>
        </p:txBody>
      </p:sp>
      <p:sp>
        <p:nvSpPr>
          <p:cNvPr id="41" name="Text 16"/>
          <p:cNvSpPr/>
          <p:nvPr/>
        </p:nvSpPr>
        <p:spPr>
          <a:xfrm>
            <a:off x="11197977" y="6515100"/>
            <a:ext cx="46130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10/11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685800"/>
            <a:ext cx="2857500" cy="2857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3924300"/>
            <a:ext cx="1905000" cy="1905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4500" y="1895475"/>
            <a:ext cx="1143000" cy="38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3875" y="3495675"/>
            <a:ext cx="666750" cy="6667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3425" y="3657600"/>
            <a:ext cx="247650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86375" y="3495675"/>
            <a:ext cx="666750" cy="6667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38775" y="3657600"/>
            <a:ext cx="361950" cy="342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8875" y="3495675"/>
            <a:ext cx="666750" cy="6667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91275" y="3657600"/>
            <a:ext cx="361950" cy="342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91375" y="3495675"/>
            <a:ext cx="666750" cy="6667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81875" y="3657600"/>
            <a:ext cx="285750" cy="3429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3890010" y="981075"/>
            <a:ext cx="441198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4500" dirty="0"/>
          </a:p>
        </p:txBody>
      </p:sp>
      <p:sp>
        <p:nvSpPr>
          <p:cNvPr id="21" name="Text 1"/>
          <p:cNvSpPr/>
          <p:nvPr/>
        </p:nvSpPr>
        <p:spPr>
          <a:xfrm>
            <a:off x="2438400" y="2276475"/>
            <a:ext cx="73152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Thank you for your attention and time. </a:t>
            </a:r>
            <a:endParaRPr lang="en-US" sz="1500" dirty="0"/>
          </a:p>
        </p:txBody>
      </p:sp>
      <p:sp>
        <p:nvSpPr>
          <p:cNvPr id="27" name="Text 7"/>
          <p:cNvSpPr/>
          <p:nvPr/>
        </p:nvSpPr>
        <p:spPr>
          <a:xfrm>
            <a:off x="609600" y="6515100"/>
            <a:ext cx="221099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Event Management System</a:t>
            </a:r>
            <a:endParaRPr lang="en-US" sz="1050" dirty="0"/>
          </a:p>
        </p:txBody>
      </p:sp>
      <p:sp>
        <p:nvSpPr>
          <p:cNvPr id="28" name="Text 8"/>
          <p:cNvSpPr/>
          <p:nvPr/>
        </p:nvSpPr>
        <p:spPr>
          <a:xfrm>
            <a:off x="11197977" y="6515100"/>
            <a:ext cx="46130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11/11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508</Words>
  <Application>Microsoft Macintosh PowerPoint</Application>
  <PresentationFormat>Widescreen</PresentationFormat>
  <Paragraphs>133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Montserrat</vt:lpstr>
      <vt:lpstr>Open Sans</vt:lpstr>
      <vt:lpstr>ui-sans-serif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RAC IT</cp:lastModifiedBy>
  <cp:revision>11</cp:revision>
  <dcterms:created xsi:type="dcterms:W3CDTF">2025-11-26T18:33:45Z</dcterms:created>
  <dcterms:modified xsi:type="dcterms:W3CDTF">2025-11-26T19:45:10Z</dcterms:modified>
</cp:coreProperties>
</file>