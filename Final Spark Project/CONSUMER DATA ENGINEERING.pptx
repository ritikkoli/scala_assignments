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7" r:id="rId13"/>
    <p:sldId id="267" r:id="rId14"/>
    <p:sldId id="268" r:id="rId15"/>
    <p:sldId id="27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2619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0.png"/><Relationship Id="rId3" Type="http://schemas.openxmlformats.org/officeDocument/2006/relationships/image" Target="../media/image1.png"/><Relationship Id="rId21" Type="http://schemas.openxmlformats.org/officeDocument/2006/relationships/image" Target="../media/image7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2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8.png"/><Relationship Id="rId28" Type="http://schemas.openxmlformats.org/officeDocument/2006/relationships/image" Target="../media/image11.png"/><Relationship Id="rId10" Type="http://schemas.openxmlformats.org/officeDocument/2006/relationships/image" Target="../media/image18.png"/><Relationship Id="rId19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28.png"/><Relationship Id="rId27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11.png"/><Relationship Id="rId3" Type="http://schemas.openxmlformats.org/officeDocument/2006/relationships/image" Target="../media/image1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5" Type="http://schemas.openxmlformats.org/officeDocument/2006/relationships/image" Target="../media/image13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12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13.png"/><Relationship Id="rId9" Type="http://schemas.openxmlformats.org/officeDocument/2006/relationships/image" Target="../media/image5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13.png"/><Relationship Id="rId9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2.png"/><Relationship Id="rId10" Type="http://schemas.openxmlformats.org/officeDocument/2006/relationships/image" Target="../media/image68.png"/><Relationship Id="rId4" Type="http://schemas.openxmlformats.org/officeDocument/2006/relationships/image" Target="../media/image13.png"/><Relationship Id="rId9" Type="http://schemas.openxmlformats.org/officeDocument/2006/relationships/image" Target="../media/image67.png"/><Relationship Id="rId1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7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1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3.png"/><Relationship Id="rId10" Type="http://schemas.openxmlformats.org/officeDocument/2006/relationships/image" Target="../media/image87.png"/><Relationship Id="rId4" Type="http://schemas.openxmlformats.org/officeDocument/2006/relationships/image" Target="../media/image13.png"/><Relationship Id="rId9" Type="http://schemas.openxmlformats.org/officeDocument/2006/relationships/image" Target="../media/image8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7.png"/><Relationship Id="rId18" Type="http://schemas.openxmlformats.org/officeDocument/2006/relationships/image" Target="../media/image99.png"/><Relationship Id="rId3" Type="http://schemas.openxmlformats.org/officeDocument/2006/relationships/image" Target="../media/image1.png"/><Relationship Id="rId21" Type="http://schemas.openxmlformats.org/officeDocument/2006/relationships/image" Target="../media/image102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8.png"/><Relationship Id="rId25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24" Type="http://schemas.openxmlformats.org/officeDocument/2006/relationships/image" Target="../media/image105.png"/><Relationship Id="rId5" Type="http://schemas.openxmlformats.org/officeDocument/2006/relationships/image" Target="../media/image13.png"/><Relationship Id="rId15" Type="http://schemas.openxmlformats.org/officeDocument/2006/relationships/image" Target="../media/image96.png"/><Relationship Id="rId23" Type="http://schemas.openxmlformats.org/officeDocument/2006/relationships/image" Target="../media/image104.png"/><Relationship Id="rId10" Type="http://schemas.openxmlformats.org/officeDocument/2006/relationships/image" Target="../media/image92.png"/><Relationship Id="rId19" Type="http://schemas.openxmlformats.org/officeDocument/2006/relationships/image" Target="../media/image100.png"/><Relationship Id="rId4" Type="http://schemas.openxmlformats.org/officeDocument/2006/relationships/image" Target="../media/image12.png"/><Relationship Id="rId9" Type="http://schemas.openxmlformats.org/officeDocument/2006/relationships/image" Target="../media/image91.png"/><Relationship Id="rId14" Type="http://schemas.openxmlformats.org/officeDocument/2006/relationships/image" Target="../media/image95.png"/><Relationship Id="rId22" Type="http://schemas.openxmlformats.org/officeDocument/2006/relationships/image" Target="../media/image10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3.png"/><Relationship Id="rId3" Type="http://schemas.openxmlformats.org/officeDocument/2006/relationships/image" Target="../media/image1.png"/><Relationship Id="rId7" Type="http://schemas.openxmlformats.org/officeDocument/2006/relationships/image" Target="../media/image108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5" Type="http://schemas.openxmlformats.org/officeDocument/2006/relationships/image" Target="../media/image115.png"/><Relationship Id="rId10" Type="http://schemas.openxmlformats.org/officeDocument/2006/relationships/image" Target="../media/image111.png"/><Relationship Id="rId4" Type="http://schemas.openxmlformats.org/officeDocument/2006/relationships/image" Target="../media/image13.png"/><Relationship Id="rId9" Type="http://schemas.openxmlformats.org/officeDocument/2006/relationships/image" Target="../media/image110.png"/><Relationship Id="rId14" Type="http://schemas.openxmlformats.org/officeDocument/2006/relationships/image" Target="../media/image11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18" Type="http://schemas.openxmlformats.org/officeDocument/2006/relationships/image" Target="../media/image128.png"/><Relationship Id="rId26" Type="http://schemas.openxmlformats.org/officeDocument/2006/relationships/image" Target="../media/image136.png"/><Relationship Id="rId3" Type="http://schemas.openxmlformats.org/officeDocument/2006/relationships/image" Target="../media/image1.png"/><Relationship Id="rId21" Type="http://schemas.openxmlformats.org/officeDocument/2006/relationships/image" Target="../media/image131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17" Type="http://schemas.openxmlformats.org/officeDocument/2006/relationships/image" Target="../media/image127.png"/><Relationship Id="rId25" Type="http://schemas.openxmlformats.org/officeDocument/2006/relationships/image" Target="../media/image135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26.png"/><Relationship Id="rId20" Type="http://schemas.openxmlformats.org/officeDocument/2006/relationships/image" Target="../media/image130.png"/><Relationship Id="rId29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24" Type="http://schemas.openxmlformats.org/officeDocument/2006/relationships/image" Target="../media/image134.png"/><Relationship Id="rId5" Type="http://schemas.openxmlformats.org/officeDocument/2006/relationships/image" Target="../media/image13.png"/><Relationship Id="rId15" Type="http://schemas.openxmlformats.org/officeDocument/2006/relationships/image" Target="../media/image125.png"/><Relationship Id="rId23" Type="http://schemas.openxmlformats.org/officeDocument/2006/relationships/image" Target="../media/image133.png"/><Relationship Id="rId28" Type="http://schemas.openxmlformats.org/officeDocument/2006/relationships/image" Target="../media/image138.png"/><Relationship Id="rId10" Type="http://schemas.openxmlformats.org/officeDocument/2006/relationships/image" Target="../media/image120.png"/><Relationship Id="rId19" Type="http://schemas.openxmlformats.org/officeDocument/2006/relationships/image" Target="../media/image129.png"/><Relationship Id="rId4" Type="http://schemas.openxmlformats.org/officeDocument/2006/relationships/image" Target="../media/image12.png"/><Relationship Id="rId9" Type="http://schemas.openxmlformats.org/officeDocument/2006/relationships/image" Target="../media/image119.png"/><Relationship Id="rId14" Type="http://schemas.openxmlformats.org/officeDocument/2006/relationships/image" Target="../media/image124.png"/><Relationship Id="rId22" Type="http://schemas.openxmlformats.org/officeDocument/2006/relationships/image" Target="../media/image132.png"/><Relationship Id="rId27" Type="http://schemas.openxmlformats.org/officeDocument/2006/relationships/image" Target="../media/image1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3" Type="http://schemas.openxmlformats.org/officeDocument/2006/relationships/image" Target="../media/image1.png"/><Relationship Id="rId21" Type="http://schemas.openxmlformats.org/officeDocument/2006/relationships/image" Target="../media/image11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17" Type="http://schemas.openxmlformats.org/officeDocument/2006/relationships/image" Target="../media/image150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49.png"/><Relationship Id="rId20" Type="http://schemas.openxmlformats.org/officeDocument/2006/relationships/image" Target="../media/image1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5" Type="http://schemas.openxmlformats.org/officeDocument/2006/relationships/image" Target="../media/image13.png"/><Relationship Id="rId15" Type="http://schemas.openxmlformats.org/officeDocument/2006/relationships/image" Target="../media/image148.png"/><Relationship Id="rId10" Type="http://schemas.openxmlformats.org/officeDocument/2006/relationships/image" Target="../media/image143.png"/><Relationship Id="rId19" Type="http://schemas.openxmlformats.org/officeDocument/2006/relationships/image" Target="../media/image152.png"/><Relationship Id="rId4" Type="http://schemas.openxmlformats.org/officeDocument/2006/relationships/image" Target="../media/image12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image" Target="../media/image161.png"/><Relationship Id="rId18" Type="http://schemas.openxmlformats.org/officeDocument/2006/relationships/image" Target="../media/image166.png"/><Relationship Id="rId3" Type="http://schemas.openxmlformats.org/officeDocument/2006/relationships/image" Target="../media/image1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17" Type="http://schemas.openxmlformats.org/officeDocument/2006/relationships/image" Target="../media/image165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4.png"/><Relationship Id="rId11" Type="http://schemas.openxmlformats.org/officeDocument/2006/relationships/image" Target="../media/image159.png"/><Relationship Id="rId5" Type="http://schemas.openxmlformats.org/officeDocument/2006/relationships/image" Target="../media/image13.png"/><Relationship Id="rId15" Type="http://schemas.openxmlformats.org/officeDocument/2006/relationships/image" Target="../media/image163.png"/><Relationship Id="rId10" Type="http://schemas.openxmlformats.org/officeDocument/2006/relationships/image" Target="../media/image158.png"/><Relationship Id="rId19" Type="http://schemas.openxmlformats.org/officeDocument/2006/relationships/image" Target="../media/image11.png"/><Relationship Id="rId4" Type="http://schemas.openxmlformats.org/officeDocument/2006/relationships/image" Target="../media/image12.png"/><Relationship Id="rId9" Type="http://schemas.openxmlformats.org/officeDocument/2006/relationships/image" Target="../media/image157.png"/><Relationship Id="rId14" Type="http://schemas.openxmlformats.org/officeDocument/2006/relationships/image" Target="../media/image1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600" y="0"/>
            <a:ext cx="2438400" cy="2438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114800"/>
            <a:ext cx="2743200" cy="2743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2876550"/>
            <a:ext cx="12192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7675" y="4171950"/>
            <a:ext cx="2476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0150" y="4171950"/>
            <a:ext cx="2857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8813" y="4171950"/>
            <a:ext cx="2857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5113" y="4171950"/>
            <a:ext cx="2857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4288" y="4171950"/>
            <a:ext cx="219075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03885" y="2076450"/>
            <a:ext cx="1098423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180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CONSUMER DATA ENGINEERING</a:t>
            </a:r>
            <a:endParaRPr lang="en-US" sz="4500" dirty="0"/>
          </a:p>
        </p:txBody>
      </p:sp>
      <p:sp>
        <p:nvSpPr>
          <p:cNvPr id="14" name="Text 1"/>
          <p:cNvSpPr/>
          <p:nvPr/>
        </p:nvSpPr>
        <p:spPr>
          <a:xfrm>
            <a:off x="1519238" y="3219450"/>
            <a:ext cx="915352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RITIK JANARDHAN KOLI</a:t>
            </a:r>
            <a:endParaRPr lang="en-US" sz="2250" dirty="0"/>
          </a:p>
        </p:txBody>
      </p:sp>
      <p:sp>
        <p:nvSpPr>
          <p:cNvPr id="15" name="Text 2"/>
          <p:cNvSpPr/>
          <p:nvPr/>
        </p:nvSpPr>
        <p:spPr>
          <a:xfrm>
            <a:off x="4124325" y="4591050"/>
            <a:ext cx="514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MySQL</a:t>
            </a:r>
            <a:endParaRPr lang="en-US" sz="1050" dirty="0"/>
          </a:p>
        </p:txBody>
      </p:sp>
      <p:sp>
        <p:nvSpPr>
          <p:cNvPr id="16" name="Text 3"/>
          <p:cNvSpPr/>
          <p:nvPr/>
        </p:nvSpPr>
        <p:spPr>
          <a:xfrm>
            <a:off x="4941570" y="4591050"/>
            <a:ext cx="4229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Kafka</a:t>
            </a:r>
            <a:endParaRPr lang="en-US" sz="1050" dirty="0"/>
          </a:p>
        </p:txBody>
      </p:sp>
      <p:sp>
        <p:nvSpPr>
          <p:cNvPr id="17" name="Text 4"/>
          <p:cNvSpPr/>
          <p:nvPr/>
        </p:nvSpPr>
        <p:spPr>
          <a:xfrm>
            <a:off x="5675948" y="4591050"/>
            <a:ext cx="411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Spark</a:t>
            </a:r>
            <a:endParaRPr lang="en-US" sz="1050" dirty="0"/>
          </a:p>
        </p:txBody>
      </p:sp>
      <p:sp>
        <p:nvSpPr>
          <p:cNvPr id="18" name="Text 5"/>
          <p:cNvSpPr/>
          <p:nvPr/>
        </p:nvSpPr>
        <p:spPr>
          <a:xfrm>
            <a:off x="6369368" y="4591050"/>
            <a:ext cx="777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Cassandra</a:t>
            </a:r>
            <a:endParaRPr lang="en-US" sz="1050" dirty="0"/>
          </a:p>
        </p:txBody>
      </p:sp>
      <p:sp>
        <p:nvSpPr>
          <p:cNvPr id="19" name="Text 6"/>
          <p:cNvSpPr/>
          <p:nvPr/>
        </p:nvSpPr>
        <p:spPr>
          <a:xfrm>
            <a:off x="7406640" y="4591050"/>
            <a:ext cx="6743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Play APIs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8382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23975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14097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314575"/>
            <a:ext cx="47625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24003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238500"/>
            <a:ext cx="5181600" cy="1562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771900"/>
            <a:ext cx="1549301" cy="876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22350" y="39243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25601" y="3771900"/>
            <a:ext cx="1549450" cy="876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85951" y="39243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89350" y="3771900"/>
            <a:ext cx="1549450" cy="876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49701" y="39243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1181100"/>
            <a:ext cx="5181600" cy="4762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9400" y="1866900"/>
            <a:ext cx="2286000" cy="1181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48575" y="2019300"/>
            <a:ext cx="247650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67800" y="1866900"/>
            <a:ext cx="2286000" cy="1181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67925" y="2019300"/>
            <a:ext cx="28575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29400" y="3200400"/>
            <a:ext cx="2286000" cy="1181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29525" y="3352800"/>
            <a:ext cx="285750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67800" y="3200400"/>
            <a:ext cx="2286000" cy="1181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67925" y="3352800"/>
            <a:ext cx="285750" cy="342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29400" y="4533900"/>
            <a:ext cx="4724400" cy="11811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882063" y="4686300"/>
            <a:ext cx="219075" cy="3429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1238250" y="1181100"/>
            <a:ext cx="455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1238250" y="1485900"/>
            <a:ext cx="4552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Consolidate customer transactions and behavioral events</a:t>
            </a:r>
            <a:endParaRPr lang="en-US" sz="1200" dirty="0"/>
          </a:p>
        </p:txBody>
      </p:sp>
      <p:sp>
        <p:nvSpPr>
          <p:cNvPr id="31" name="Text 3"/>
          <p:cNvSpPr/>
          <p:nvPr/>
        </p:nvSpPr>
        <p:spPr>
          <a:xfrm>
            <a:off x="1238250" y="2171700"/>
            <a:ext cx="455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</a:t>
            </a:r>
            <a:endParaRPr lang="en-US" sz="1500" dirty="0"/>
          </a:p>
        </p:txBody>
      </p:sp>
      <p:sp>
        <p:nvSpPr>
          <p:cNvPr id="32" name="Text 4"/>
          <p:cNvSpPr/>
          <p:nvPr/>
        </p:nvSpPr>
        <p:spPr>
          <a:xfrm>
            <a:off x="1238250" y="2476500"/>
            <a:ext cx="4552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unified DE ecosystem with MySQL, Cassandra, Kafka, Spark, Parquet, Play APIs</a:t>
            </a:r>
            <a:endParaRPr lang="en-US" sz="1200" dirty="0"/>
          </a:p>
        </p:txBody>
      </p:sp>
      <p:sp>
        <p:nvSpPr>
          <p:cNvPr id="33" name="Text 5"/>
          <p:cNvSpPr/>
          <p:nvPr/>
        </p:nvSpPr>
        <p:spPr>
          <a:xfrm>
            <a:off x="762000" y="3390900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Sources</a:t>
            </a:r>
            <a:endParaRPr lang="en-US" sz="1350" dirty="0"/>
          </a:p>
        </p:txBody>
      </p:sp>
      <p:sp>
        <p:nvSpPr>
          <p:cNvPr id="34" name="Text 6"/>
          <p:cNvSpPr/>
          <p:nvPr/>
        </p:nvSpPr>
        <p:spPr>
          <a:xfrm>
            <a:off x="789950" y="4305300"/>
            <a:ext cx="14934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Master</a:t>
            </a:r>
            <a:endParaRPr lang="en-US" sz="1050" dirty="0"/>
          </a:p>
        </p:txBody>
      </p:sp>
      <p:sp>
        <p:nvSpPr>
          <p:cNvPr id="35" name="Text 7"/>
          <p:cNvSpPr/>
          <p:nvPr/>
        </p:nvSpPr>
        <p:spPr>
          <a:xfrm>
            <a:off x="2453536" y="4305300"/>
            <a:ext cx="14935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4117285" y="4305300"/>
            <a:ext cx="14935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 Events</a:t>
            </a:r>
            <a:endParaRPr lang="en-US" sz="1050" dirty="0"/>
          </a:p>
        </p:txBody>
      </p:sp>
      <p:sp>
        <p:nvSpPr>
          <p:cNvPr id="37" name="Text 9"/>
          <p:cNvSpPr/>
          <p:nvPr/>
        </p:nvSpPr>
        <p:spPr>
          <a:xfrm>
            <a:off x="6629400" y="1409700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Unified DE Ecosystem</a:t>
            </a:r>
            <a:endParaRPr lang="en-US" sz="1500" dirty="0"/>
          </a:p>
        </p:txBody>
      </p:sp>
      <p:sp>
        <p:nvSpPr>
          <p:cNvPr id="38" name="Text 10"/>
          <p:cNvSpPr/>
          <p:nvPr/>
        </p:nvSpPr>
        <p:spPr>
          <a:xfrm>
            <a:off x="6781800" y="2476500"/>
            <a:ext cx="1981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MySQL</a:t>
            </a:r>
            <a:endParaRPr lang="en-US" sz="1200" dirty="0"/>
          </a:p>
        </p:txBody>
      </p:sp>
      <p:sp>
        <p:nvSpPr>
          <p:cNvPr id="39" name="Text 11"/>
          <p:cNvSpPr/>
          <p:nvPr/>
        </p:nvSpPr>
        <p:spPr>
          <a:xfrm>
            <a:off x="6781800" y="2743200"/>
            <a:ext cx="1981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System</a:t>
            </a:r>
            <a:endParaRPr lang="en-US" sz="900" dirty="0"/>
          </a:p>
        </p:txBody>
      </p:sp>
      <p:sp>
        <p:nvSpPr>
          <p:cNvPr id="40" name="Text 12"/>
          <p:cNvSpPr/>
          <p:nvPr/>
        </p:nvSpPr>
        <p:spPr>
          <a:xfrm>
            <a:off x="9220200" y="2476500"/>
            <a:ext cx="1981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Kafka</a:t>
            </a:r>
            <a:endParaRPr lang="en-US" sz="1200" dirty="0"/>
          </a:p>
        </p:txBody>
      </p:sp>
      <p:sp>
        <p:nvSpPr>
          <p:cNvPr id="41" name="Text 13"/>
          <p:cNvSpPr/>
          <p:nvPr/>
        </p:nvSpPr>
        <p:spPr>
          <a:xfrm>
            <a:off x="9220200" y="2743200"/>
            <a:ext cx="1981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Message Bus</a:t>
            </a:r>
            <a:endParaRPr lang="en-US" sz="900" dirty="0"/>
          </a:p>
        </p:txBody>
      </p:sp>
      <p:sp>
        <p:nvSpPr>
          <p:cNvPr id="42" name="Text 14"/>
          <p:cNvSpPr/>
          <p:nvPr/>
        </p:nvSpPr>
        <p:spPr>
          <a:xfrm>
            <a:off x="6781800" y="3810000"/>
            <a:ext cx="1981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Spark</a:t>
            </a:r>
            <a:endParaRPr lang="en-US" sz="1200" dirty="0"/>
          </a:p>
        </p:txBody>
      </p:sp>
      <p:sp>
        <p:nvSpPr>
          <p:cNvPr id="43" name="Text 15"/>
          <p:cNvSpPr/>
          <p:nvPr/>
        </p:nvSpPr>
        <p:spPr>
          <a:xfrm>
            <a:off x="6781800" y="4076700"/>
            <a:ext cx="1981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ETL Processing</a:t>
            </a:r>
            <a:endParaRPr lang="en-US" sz="900" dirty="0"/>
          </a:p>
        </p:txBody>
      </p:sp>
      <p:sp>
        <p:nvSpPr>
          <p:cNvPr id="44" name="Text 16"/>
          <p:cNvSpPr/>
          <p:nvPr/>
        </p:nvSpPr>
        <p:spPr>
          <a:xfrm>
            <a:off x="9220200" y="3810000"/>
            <a:ext cx="1981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Cassandra</a:t>
            </a:r>
            <a:endParaRPr lang="en-US" sz="1200" dirty="0"/>
          </a:p>
        </p:txBody>
      </p:sp>
      <p:sp>
        <p:nvSpPr>
          <p:cNvPr id="45" name="Text 17"/>
          <p:cNvSpPr/>
          <p:nvPr/>
        </p:nvSpPr>
        <p:spPr>
          <a:xfrm>
            <a:off x="9220200" y="4076700"/>
            <a:ext cx="1981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Storage</a:t>
            </a:r>
            <a:endParaRPr lang="en-US" sz="900" dirty="0"/>
          </a:p>
        </p:txBody>
      </p:sp>
      <p:sp>
        <p:nvSpPr>
          <p:cNvPr id="46" name="Text 18"/>
          <p:cNvSpPr/>
          <p:nvPr/>
        </p:nvSpPr>
        <p:spPr>
          <a:xfrm>
            <a:off x="6781800" y="5105400"/>
            <a:ext cx="4419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Play APIs</a:t>
            </a:r>
            <a:endParaRPr lang="en-US" sz="1200" dirty="0"/>
          </a:p>
        </p:txBody>
      </p:sp>
      <p:sp>
        <p:nvSpPr>
          <p:cNvPr id="47" name="Text 19"/>
          <p:cNvSpPr/>
          <p:nvPr/>
        </p:nvSpPr>
        <p:spPr>
          <a:xfrm>
            <a:off x="6781800" y="5372100"/>
            <a:ext cx="4419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Interface</a:t>
            </a:r>
            <a:endParaRPr lang="en-US" sz="1050" dirty="0"/>
          </a:p>
        </p:txBody>
      </p:sp>
      <p:sp>
        <p:nvSpPr>
          <p:cNvPr id="48" name="Text 20"/>
          <p:cNvSpPr/>
          <p:nvPr/>
        </p:nvSpPr>
        <p:spPr>
          <a:xfrm>
            <a:off x="11677650" y="6515100"/>
            <a:ext cx="342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2/21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8382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5650" y="17145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1388" y="1885950"/>
            <a:ext cx="200025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2400" y="1990725"/>
            <a:ext cx="914400" cy="190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2050" y="17145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3500" y="1885950"/>
            <a:ext cx="22860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8800" y="1990725"/>
            <a:ext cx="914400" cy="19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450" y="17145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9900" y="1885950"/>
            <a:ext cx="22860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0" y="1990725"/>
            <a:ext cx="914400" cy="190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4850" y="171450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24875" y="1885950"/>
            <a:ext cx="17145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2667000"/>
            <a:ext cx="2571750" cy="1333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2857500"/>
            <a:ext cx="3048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2500" y="3305175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2500" y="3609975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09950" y="2667000"/>
            <a:ext cx="2571750" cy="1333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00450" y="2857500"/>
            <a:ext cx="3048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52850" y="3305175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52850" y="3609975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0" y="2667000"/>
            <a:ext cx="2571750" cy="1333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2857500"/>
            <a:ext cx="304800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3305175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3609975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10650" y="2667000"/>
            <a:ext cx="2571750" cy="1333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01150" y="2857500"/>
            <a:ext cx="304800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53550" y="3305175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53550" y="3609975"/>
            <a:ext cx="1524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4381500"/>
            <a:ext cx="10972800" cy="6096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2000" y="4533900"/>
            <a:ext cx="171450" cy="3048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29475" y="4610100"/>
            <a:ext cx="1524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43975" y="4610100"/>
            <a:ext cx="15240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315575" y="4610100"/>
            <a:ext cx="17145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38" name="Text 0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 &amp; APPROACH</a:t>
            </a:r>
            <a:endParaRPr lang="en-US" sz="2700" dirty="0"/>
          </a:p>
        </p:txBody>
      </p:sp>
      <p:sp>
        <p:nvSpPr>
          <p:cNvPr id="39" name="Text 1"/>
          <p:cNvSpPr/>
          <p:nvPr/>
        </p:nvSpPr>
        <p:spPr>
          <a:xfrm>
            <a:off x="609600" y="1181100"/>
            <a:ext cx="10972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four-step approach to building a unified data ecosystem:</a:t>
            </a:r>
            <a:endParaRPr lang="en-US" sz="1200" dirty="0"/>
          </a:p>
        </p:txBody>
      </p:sp>
      <p:sp>
        <p:nvSpPr>
          <p:cNvPr id="40" name="Text 2"/>
          <p:cNvSpPr/>
          <p:nvPr/>
        </p:nvSpPr>
        <p:spPr>
          <a:xfrm>
            <a:off x="909638" y="2857500"/>
            <a:ext cx="30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Text 3"/>
          <p:cNvSpPr/>
          <p:nvPr/>
        </p:nvSpPr>
        <p:spPr>
          <a:xfrm>
            <a:off x="1219200" y="2876550"/>
            <a:ext cx="148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Ingestion</a:t>
            </a:r>
            <a:endParaRPr lang="en-US" sz="1500" dirty="0"/>
          </a:p>
        </p:txBody>
      </p:sp>
      <p:sp>
        <p:nvSpPr>
          <p:cNvPr id="42" name="Text 4"/>
          <p:cNvSpPr/>
          <p:nvPr/>
        </p:nvSpPr>
        <p:spPr>
          <a:xfrm>
            <a:off x="990600" y="3276600"/>
            <a:ext cx="26746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MySQL sources</a:t>
            </a:r>
            <a:endParaRPr lang="en-US" sz="1200" dirty="0"/>
          </a:p>
        </p:txBody>
      </p:sp>
      <p:sp>
        <p:nvSpPr>
          <p:cNvPr id="43" name="Text 5"/>
          <p:cNvSpPr/>
          <p:nvPr/>
        </p:nvSpPr>
        <p:spPr>
          <a:xfrm>
            <a:off x="990600" y="3581400"/>
            <a:ext cx="26746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Kafka message bus</a:t>
            </a:r>
            <a:endParaRPr lang="en-US" sz="1200" dirty="0"/>
          </a:p>
        </p:txBody>
      </p:sp>
      <p:sp>
        <p:nvSpPr>
          <p:cNvPr id="44" name="Text 6"/>
          <p:cNvSpPr/>
          <p:nvPr/>
        </p:nvSpPr>
        <p:spPr>
          <a:xfrm>
            <a:off x="3709988" y="2857500"/>
            <a:ext cx="30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7"/>
          <p:cNvSpPr/>
          <p:nvPr/>
        </p:nvSpPr>
        <p:spPr>
          <a:xfrm>
            <a:off x="4019550" y="2876550"/>
            <a:ext cx="15773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ETL Processing</a:t>
            </a:r>
            <a:endParaRPr lang="en-US" sz="1500" dirty="0"/>
          </a:p>
        </p:txBody>
      </p:sp>
      <p:sp>
        <p:nvSpPr>
          <p:cNvPr id="46" name="Text 8"/>
          <p:cNvSpPr/>
          <p:nvPr/>
        </p:nvSpPr>
        <p:spPr>
          <a:xfrm>
            <a:off x="3790950" y="3276600"/>
            <a:ext cx="26746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Spark Batch</a:t>
            </a:r>
            <a:endParaRPr lang="en-US" sz="1200" dirty="0"/>
          </a:p>
        </p:txBody>
      </p:sp>
      <p:sp>
        <p:nvSpPr>
          <p:cNvPr id="47" name="Text 9"/>
          <p:cNvSpPr/>
          <p:nvPr/>
        </p:nvSpPr>
        <p:spPr>
          <a:xfrm>
            <a:off x="3790950" y="3581400"/>
            <a:ext cx="26746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Spark Streaming</a:t>
            </a:r>
            <a:endParaRPr lang="en-US" sz="1200" dirty="0"/>
          </a:p>
        </p:txBody>
      </p:sp>
      <p:sp>
        <p:nvSpPr>
          <p:cNvPr id="48" name="Text 10"/>
          <p:cNvSpPr/>
          <p:nvPr/>
        </p:nvSpPr>
        <p:spPr>
          <a:xfrm>
            <a:off x="6510338" y="2857500"/>
            <a:ext cx="30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Text 11"/>
          <p:cNvSpPr/>
          <p:nvPr/>
        </p:nvSpPr>
        <p:spPr>
          <a:xfrm>
            <a:off x="6819900" y="2876550"/>
            <a:ext cx="800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Storage</a:t>
            </a:r>
            <a:endParaRPr lang="en-US" sz="1500" dirty="0"/>
          </a:p>
        </p:txBody>
      </p:sp>
      <p:sp>
        <p:nvSpPr>
          <p:cNvPr id="50" name="Text 12"/>
          <p:cNvSpPr/>
          <p:nvPr/>
        </p:nvSpPr>
        <p:spPr>
          <a:xfrm>
            <a:off x="6591300" y="3276600"/>
            <a:ext cx="22288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Cassandra</a:t>
            </a:r>
            <a:endParaRPr lang="en-US" sz="1200" dirty="0"/>
          </a:p>
        </p:txBody>
      </p:sp>
      <p:sp>
        <p:nvSpPr>
          <p:cNvPr id="51" name="Text 13"/>
          <p:cNvSpPr/>
          <p:nvPr/>
        </p:nvSpPr>
        <p:spPr>
          <a:xfrm>
            <a:off x="6591300" y="3581400"/>
            <a:ext cx="26746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Parquet files</a:t>
            </a:r>
            <a:endParaRPr lang="en-US" sz="1200" dirty="0"/>
          </a:p>
        </p:txBody>
      </p:sp>
      <p:sp>
        <p:nvSpPr>
          <p:cNvPr id="52" name="Text 14"/>
          <p:cNvSpPr/>
          <p:nvPr/>
        </p:nvSpPr>
        <p:spPr>
          <a:xfrm>
            <a:off x="9310688" y="2857500"/>
            <a:ext cx="30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200" dirty="0"/>
          </a:p>
        </p:txBody>
      </p:sp>
      <p:sp>
        <p:nvSpPr>
          <p:cNvPr id="53" name="Text 15"/>
          <p:cNvSpPr/>
          <p:nvPr/>
        </p:nvSpPr>
        <p:spPr>
          <a:xfrm>
            <a:off x="9620250" y="2876550"/>
            <a:ext cx="9944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Layer</a:t>
            </a:r>
            <a:endParaRPr lang="en-US" sz="1500" dirty="0"/>
          </a:p>
        </p:txBody>
      </p:sp>
      <p:sp>
        <p:nvSpPr>
          <p:cNvPr id="54" name="Text 16"/>
          <p:cNvSpPr/>
          <p:nvPr/>
        </p:nvSpPr>
        <p:spPr>
          <a:xfrm>
            <a:off x="9391650" y="3276600"/>
            <a:ext cx="26746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Play Framework</a:t>
            </a:r>
            <a:endParaRPr lang="en-US" sz="1200" dirty="0"/>
          </a:p>
        </p:txBody>
      </p:sp>
      <p:sp>
        <p:nvSpPr>
          <p:cNvPr id="55" name="Text 17"/>
          <p:cNvSpPr/>
          <p:nvPr/>
        </p:nvSpPr>
        <p:spPr>
          <a:xfrm>
            <a:off x="9391650" y="3581400"/>
            <a:ext cx="22288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REST APIs</a:t>
            </a:r>
            <a:endParaRPr lang="en-US" sz="1200" dirty="0"/>
          </a:p>
        </p:txBody>
      </p:sp>
      <p:sp>
        <p:nvSpPr>
          <p:cNvPr id="56" name="Text 18"/>
          <p:cNvSpPr/>
          <p:nvPr/>
        </p:nvSpPr>
        <p:spPr>
          <a:xfrm>
            <a:off x="1047750" y="4572000"/>
            <a:ext cx="10744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Benefits:</a:t>
            </a:r>
            <a:endParaRPr lang="en-US" sz="1200" dirty="0"/>
          </a:p>
        </p:txBody>
      </p:sp>
      <p:sp>
        <p:nvSpPr>
          <p:cNvPr id="57" name="Text 19"/>
          <p:cNvSpPr/>
          <p:nvPr/>
        </p:nvSpPr>
        <p:spPr>
          <a:xfrm>
            <a:off x="7458075" y="4572000"/>
            <a:ext cx="1417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+ Batch</a:t>
            </a:r>
            <a:endParaRPr lang="en-US" sz="1200" dirty="0"/>
          </a:p>
        </p:txBody>
      </p:sp>
      <p:sp>
        <p:nvSpPr>
          <p:cNvPr id="58" name="Text 20"/>
          <p:cNvSpPr/>
          <p:nvPr/>
        </p:nvSpPr>
        <p:spPr>
          <a:xfrm>
            <a:off x="9172575" y="4572000"/>
            <a:ext cx="10058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59" name="Text 21"/>
          <p:cNvSpPr/>
          <p:nvPr/>
        </p:nvSpPr>
        <p:spPr>
          <a:xfrm>
            <a:off x="10563225" y="4572000"/>
            <a:ext cx="10401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60" name="Text 22"/>
          <p:cNvSpPr/>
          <p:nvPr/>
        </p:nvSpPr>
        <p:spPr>
          <a:xfrm>
            <a:off x="11677650" y="6515100"/>
            <a:ext cx="342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3/21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7620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58483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5725" y="584835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09600" y="3048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 DIAGRAM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609600" y="952500"/>
            <a:ext cx="13167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22" name="Text 9"/>
          <p:cNvSpPr/>
          <p:nvPr/>
        </p:nvSpPr>
        <p:spPr>
          <a:xfrm>
            <a:off x="11677650" y="6515100"/>
            <a:ext cx="342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4/21</a:t>
            </a:r>
            <a:endParaRPr lang="en-US" sz="10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968ECBD-618F-A964-32B9-374991199F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4200" y="324802"/>
            <a:ext cx="5943600" cy="62083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81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762000"/>
            <a:ext cx="914400" cy="38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8850" y="4524375"/>
            <a:ext cx="457200" cy="190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7650" y="4524375"/>
            <a:ext cx="457200" cy="190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6546532"/>
            <a:ext cx="11430000" cy="381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609600" y="3048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FUNCTIONAL FLOW DIAGRAM</a:t>
            </a:r>
            <a:endParaRPr lang="en-US" sz="2700" dirty="0"/>
          </a:p>
        </p:txBody>
      </p:sp>
      <p:sp>
        <p:nvSpPr>
          <p:cNvPr id="43" name="Text 11"/>
          <p:cNvSpPr/>
          <p:nvPr/>
        </p:nvSpPr>
        <p:spPr>
          <a:xfrm>
            <a:off x="594360" y="4533900"/>
            <a:ext cx="1554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9" name="Text 17"/>
          <p:cNvSpPr/>
          <p:nvPr/>
        </p:nvSpPr>
        <p:spPr>
          <a:xfrm>
            <a:off x="6362700" y="4762500"/>
            <a:ext cx="1295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endParaRPr lang="en-US" sz="900" dirty="0"/>
          </a:p>
        </p:txBody>
      </p:sp>
      <p:sp>
        <p:nvSpPr>
          <p:cNvPr id="51" name="Text 19"/>
          <p:cNvSpPr/>
          <p:nvPr/>
        </p:nvSpPr>
        <p:spPr>
          <a:xfrm>
            <a:off x="8404860" y="4762500"/>
            <a:ext cx="15544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endParaRPr lang="en-US" sz="900" dirty="0"/>
          </a:p>
        </p:txBody>
      </p:sp>
      <p:sp>
        <p:nvSpPr>
          <p:cNvPr id="52" name="Text 20"/>
          <p:cNvSpPr/>
          <p:nvPr/>
        </p:nvSpPr>
        <p:spPr>
          <a:xfrm>
            <a:off x="11677650" y="6515100"/>
            <a:ext cx="342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5/21</a:t>
            </a:r>
            <a:endParaRPr lang="en-US" sz="105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8B319A5E-370D-7148-04F1-61C18D8211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7144" y="273368"/>
            <a:ext cx="5115412" cy="61255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762000"/>
            <a:ext cx="914400" cy="381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609600" y="3048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ARCHITECTURE DIAGRAM</a:t>
            </a:r>
            <a:endParaRPr lang="en-US" sz="2700" dirty="0"/>
          </a:p>
        </p:txBody>
      </p:sp>
      <p:sp>
        <p:nvSpPr>
          <p:cNvPr id="13" name="Text 4"/>
          <p:cNvSpPr/>
          <p:nvPr/>
        </p:nvSpPr>
        <p:spPr>
          <a:xfrm>
            <a:off x="11677650" y="6515100"/>
            <a:ext cx="342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6/21</a:t>
            </a:r>
            <a:endParaRPr lang="en-US" sz="10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2DFAEFD-14BA-E316-DC3D-FF1248DEB3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238" y="152400"/>
            <a:ext cx="5115412" cy="6125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762000"/>
            <a:ext cx="914400" cy="38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5486400"/>
            <a:ext cx="19050" cy="571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5219700"/>
            <a:ext cx="2819400" cy="4953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8115300"/>
            <a:ext cx="19050" cy="5715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609600" y="3048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PIPELINE A -CUSTOMER PROFILE CONSOLIDATION(BATCH) - ARCHITECTURE</a:t>
            </a:r>
            <a:endParaRPr lang="en-US" sz="2700" dirty="0"/>
          </a:p>
        </p:txBody>
      </p:sp>
      <p:sp>
        <p:nvSpPr>
          <p:cNvPr id="52" name="Text 17"/>
          <p:cNvSpPr/>
          <p:nvPr/>
        </p:nvSpPr>
        <p:spPr>
          <a:xfrm>
            <a:off x="457200" y="5943600"/>
            <a:ext cx="5943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endParaRPr lang="en-US" sz="900" dirty="0"/>
          </a:p>
        </p:txBody>
      </p:sp>
      <p:sp>
        <p:nvSpPr>
          <p:cNvPr id="53" name="Text 18"/>
          <p:cNvSpPr/>
          <p:nvPr/>
        </p:nvSpPr>
        <p:spPr>
          <a:xfrm>
            <a:off x="5543550" y="5943600"/>
            <a:ext cx="9715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endParaRPr lang="en-US" sz="900" dirty="0"/>
          </a:p>
        </p:txBody>
      </p:sp>
      <p:sp>
        <p:nvSpPr>
          <p:cNvPr id="54" name="Text 19"/>
          <p:cNvSpPr/>
          <p:nvPr/>
        </p:nvSpPr>
        <p:spPr>
          <a:xfrm>
            <a:off x="10944225" y="5943600"/>
            <a:ext cx="9486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endParaRPr lang="en-US" sz="900" dirty="0"/>
          </a:p>
        </p:txBody>
      </p:sp>
      <p:sp>
        <p:nvSpPr>
          <p:cNvPr id="55" name="Text 20"/>
          <p:cNvSpPr/>
          <p:nvPr/>
        </p:nvSpPr>
        <p:spPr>
          <a:xfrm>
            <a:off x="11677650" y="6515100"/>
            <a:ext cx="342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7/21</a:t>
            </a:r>
            <a:endParaRPr lang="en-US" sz="105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9FBDAE5-E1EA-5870-5F44-7041034A4D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4871" y="2873897"/>
            <a:ext cx="9355728" cy="10885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838200"/>
            <a:ext cx="914400" cy="381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562600"/>
            <a:ext cx="10972800" cy="8382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42" name="Text 0"/>
          <p:cNvSpPr/>
          <p:nvPr/>
        </p:nvSpPr>
        <p:spPr>
          <a:xfrm>
            <a:off x="609600" y="3810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PIPELINE A - FUNCTIONAL FLOW</a:t>
            </a:r>
            <a:endParaRPr lang="en-US" sz="2700" dirty="0"/>
          </a:p>
        </p:txBody>
      </p:sp>
      <p:sp>
        <p:nvSpPr>
          <p:cNvPr id="75" name="Text 33"/>
          <p:cNvSpPr/>
          <p:nvPr/>
        </p:nvSpPr>
        <p:spPr>
          <a:xfrm>
            <a:off x="11677650" y="6515100"/>
            <a:ext cx="342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8/21</a:t>
            </a:r>
            <a:endParaRPr lang="en-US" sz="1050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4DBD249C-BED2-C15F-B398-D893E0D2FC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4200" y="762000"/>
            <a:ext cx="5943600" cy="58254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838200"/>
            <a:ext cx="9144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1805" y="2590800"/>
            <a:ext cx="51435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5263" y="2278261"/>
            <a:ext cx="95250" cy="95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1075" y="3009900"/>
            <a:ext cx="95250" cy="95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3169" y="3741390"/>
            <a:ext cx="95250" cy="95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4643" y="2644080"/>
            <a:ext cx="95250" cy="95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2549" y="3375571"/>
            <a:ext cx="95250" cy="95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65263" y="2278261"/>
            <a:ext cx="3139380" cy="190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93169" y="3741390"/>
            <a:ext cx="2511475" cy="190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5067300"/>
            <a:ext cx="6278761" cy="11049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PIPELINE A - OUTPUT</a:t>
            </a:r>
            <a:endParaRPr lang="en-US" sz="2700" dirty="0"/>
          </a:p>
        </p:txBody>
      </p:sp>
      <p:sp>
        <p:nvSpPr>
          <p:cNvPr id="46" name="Text 16"/>
          <p:cNvSpPr/>
          <p:nvPr/>
        </p:nvSpPr>
        <p:spPr>
          <a:xfrm>
            <a:off x="11677650" y="6515100"/>
            <a:ext cx="342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9/21</a:t>
            </a:r>
            <a:endParaRPr lang="en-US" sz="10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641B1EE-74A0-3357-D8DE-11D4A4388E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5038" y="1540031"/>
            <a:ext cx="5242707" cy="287956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67CEDED-BB6F-3AD8-40F1-B3263739490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0940" y="1540030"/>
            <a:ext cx="5936733" cy="28795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762000"/>
            <a:ext cx="914400" cy="381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609600" y="3048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PIPELINE B -DAILY TRANSACTION SUMMARY (BATCH)- ARCHITECTURE</a:t>
            </a:r>
            <a:endParaRPr lang="en-US" sz="2700" dirty="0"/>
          </a:p>
        </p:txBody>
      </p:sp>
      <p:sp>
        <p:nvSpPr>
          <p:cNvPr id="46" name="Text 17"/>
          <p:cNvSpPr/>
          <p:nvPr/>
        </p:nvSpPr>
        <p:spPr>
          <a:xfrm>
            <a:off x="11601450" y="6515100"/>
            <a:ext cx="434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10/21</a:t>
            </a:r>
            <a:endParaRPr lang="en-US" sz="10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823443CE-6402-768B-A513-B98F0D9F07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12" y="2377400"/>
            <a:ext cx="11197176" cy="1318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762000"/>
            <a:ext cx="914400" cy="38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450" y="1447800"/>
            <a:ext cx="1790700" cy="190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0450" y="2409825"/>
            <a:ext cx="1790700" cy="1905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46" name="Text 0"/>
          <p:cNvSpPr/>
          <p:nvPr/>
        </p:nvSpPr>
        <p:spPr>
          <a:xfrm>
            <a:off x="609600" y="3048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PIPELINE B - FUNCTIONAL FLOW</a:t>
            </a:r>
            <a:endParaRPr lang="en-US" sz="2700" dirty="0"/>
          </a:p>
        </p:txBody>
      </p:sp>
      <p:sp>
        <p:nvSpPr>
          <p:cNvPr id="72" name="Text 26"/>
          <p:cNvSpPr/>
          <p:nvPr/>
        </p:nvSpPr>
        <p:spPr>
          <a:xfrm>
            <a:off x="11601450" y="6515100"/>
            <a:ext cx="434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11/21</a:t>
            </a:r>
            <a:endParaRPr lang="en-US" sz="1050" dirty="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7EF4C726-CDB8-2B12-AABE-4C934D52CB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1911" y="685800"/>
            <a:ext cx="5943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F7648D5-708A-0B78-0356-E576E9116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E1DD5171-1D68-9E5F-CB74-D0F08C707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762000"/>
            <a:ext cx="914400" cy="38100"/>
          </a:xfrm>
          <a:prstGeom prst="rect">
            <a:avLst/>
          </a:prstGeom>
        </p:spPr>
      </p:pic>
      <p:pic>
        <p:nvPicPr>
          <p:cNvPr id="4" name="Image 12" descr="preencoded.png">
            <a:extLst>
              <a:ext uri="{FF2B5EF4-FFF2-40B4-BE49-F238E27FC236}">
                <a16:creationId xmlns:a16="http://schemas.microsoft.com/office/drawing/2014/main" id="{BB51DA28-49F8-F959-8D3D-EA0A5FDB1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450" y="1447800"/>
            <a:ext cx="1790700" cy="19050"/>
          </a:xfrm>
          <a:prstGeom prst="rect">
            <a:avLst/>
          </a:prstGeom>
        </p:spPr>
      </p:pic>
      <p:pic>
        <p:nvPicPr>
          <p:cNvPr id="5" name="Image 24" descr="preencoded.png">
            <a:extLst>
              <a:ext uri="{FF2B5EF4-FFF2-40B4-BE49-F238E27FC236}">
                <a16:creationId xmlns:a16="http://schemas.microsoft.com/office/drawing/2014/main" id="{8630BB2A-4477-BDEB-18FC-F90042B62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450" y="2409825"/>
            <a:ext cx="1790700" cy="19050"/>
          </a:xfrm>
          <a:prstGeom prst="rect">
            <a:avLst/>
          </a:prstGeom>
        </p:spPr>
      </p:pic>
      <p:pic>
        <p:nvPicPr>
          <p:cNvPr id="6" name="Image 43" descr="preencoded.png">
            <a:extLst>
              <a:ext uri="{FF2B5EF4-FFF2-40B4-BE49-F238E27FC236}">
                <a16:creationId xmlns:a16="http://schemas.microsoft.com/office/drawing/2014/main" id="{12FBB0B4-9396-6C7E-D521-6129F87467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EBE31FC0-2095-DDE1-CC60-DE78A60A1EF7}"/>
              </a:ext>
            </a:extLst>
          </p:cNvPr>
          <p:cNvSpPr/>
          <p:nvPr/>
        </p:nvSpPr>
        <p:spPr>
          <a:xfrm>
            <a:off x="609600" y="3048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PIPELINE B - FUNCTIONAL FLOW</a:t>
            </a:r>
            <a:endParaRPr lang="en-US" sz="2700" dirty="0"/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922C6DF0-F0F3-649D-BF8A-8C0EB775C438}"/>
              </a:ext>
            </a:extLst>
          </p:cNvPr>
          <p:cNvSpPr/>
          <p:nvPr/>
        </p:nvSpPr>
        <p:spPr>
          <a:xfrm>
            <a:off x="11601450" y="6515100"/>
            <a:ext cx="434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11/21</a:t>
            </a: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698AED-7207-2C03-1C3B-FF1EEC0856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0644" y="304800"/>
            <a:ext cx="4105301" cy="622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772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838200"/>
            <a:ext cx="914400" cy="38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PIPELINE B - OUTPUT</a:t>
            </a:r>
            <a:endParaRPr lang="en-US" sz="2700" dirty="0"/>
          </a:p>
        </p:txBody>
      </p:sp>
      <p:sp>
        <p:nvSpPr>
          <p:cNvPr id="39" name="Text 16"/>
          <p:cNvSpPr/>
          <p:nvPr/>
        </p:nvSpPr>
        <p:spPr>
          <a:xfrm>
            <a:off x="6783586" y="2228850"/>
            <a:ext cx="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020" dirty="0"/>
          </a:p>
        </p:txBody>
      </p:sp>
      <p:sp>
        <p:nvSpPr>
          <p:cNvPr id="44" name="Text 21"/>
          <p:cNvSpPr/>
          <p:nvPr/>
        </p:nvSpPr>
        <p:spPr>
          <a:xfrm>
            <a:off x="8888611" y="2423071"/>
            <a:ext cx="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020" dirty="0"/>
          </a:p>
        </p:txBody>
      </p:sp>
      <p:sp>
        <p:nvSpPr>
          <p:cNvPr id="48" name="Text 25"/>
          <p:cNvSpPr/>
          <p:nvPr/>
        </p:nvSpPr>
        <p:spPr>
          <a:xfrm>
            <a:off x="8732639" y="2617291"/>
            <a:ext cx="9358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020" dirty="0"/>
          </a:p>
        </p:txBody>
      </p:sp>
      <p:sp>
        <p:nvSpPr>
          <p:cNvPr id="49" name="Text 26"/>
          <p:cNvSpPr/>
          <p:nvPr/>
        </p:nvSpPr>
        <p:spPr>
          <a:xfrm>
            <a:off x="8810625" y="2617291"/>
            <a:ext cx="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020" dirty="0"/>
          </a:p>
        </p:txBody>
      </p:sp>
      <p:sp>
        <p:nvSpPr>
          <p:cNvPr id="53" name="Text 30"/>
          <p:cNvSpPr/>
          <p:nvPr/>
        </p:nvSpPr>
        <p:spPr>
          <a:xfrm>
            <a:off x="10057954" y="2811512"/>
            <a:ext cx="9358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020" dirty="0"/>
          </a:p>
        </p:txBody>
      </p:sp>
      <p:sp>
        <p:nvSpPr>
          <p:cNvPr id="54" name="Text 31"/>
          <p:cNvSpPr/>
          <p:nvPr/>
        </p:nvSpPr>
        <p:spPr>
          <a:xfrm>
            <a:off x="10135939" y="2811512"/>
            <a:ext cx="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020" dirty="0"/>
          </a:p>
        </p:txBody>
      </p:sp>
      <p:sp>
        <p:nvSpPr>
          <p:cNvPr id="58" name="Text 35"/>
          <p:cNvSpPr/>
          <p:nvPr/>
        </p:nvSpPr>
        <p:spPr>
          <a:xfrm>
            <a:off x="8888611" y="3005733"/>
            <a:ext cx="9358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020" dirty="0"/>
          </a:p>
        </p:txBody>
      </p:sp>
      <p:sp>
        <p:nvSpPr>
          <p:cNvPr id="59" name="Text 36"/>
          <p:cNvSpPr/>
          <p:nvPr/>
        </p:nvSpPr>
        <p:spPr>
          <a:xfrm>
            <a:off x="8966597" y="3005733"/>
            <a:ext cx="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020" dirty="0"/>
          </a:p>
        </p:txBody>
      </p:sp>
      <p:sp>
        <p:nvSpPr>
          <p:cNvPr id="64" name="Text 41"/>
          <p:cNvSpPr/>
          <p:nvPr/>
        </p:nvSpPr>
        <p:spPr>
          <a:xfrm>
            <a:off x="8576816" y="3199954"/>
            <a:ext cx="9358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020" dirty="0"/>
          </a:p>
        </p:txBody>
      </p:sp>
      <p:sp>
        <p:nvSpPr>
          <p:cNvPr id="65" name="Text 42"/>
          <p:cNvSpPr/>
          <p:nvPr/>
        </p:nvSpPr>
        <p:spPr>
          <a:xfrm>
            <a:off x="8654802" y="3199954"/>
            <a:ext cx="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020" dirty="0"/>
          </a:p>
        </p:txBody>
      </p:sp>
      <p:sp>
        <p:nvSpPr>
          <p:cNvPr id="70" name="Text 47"/>
          <p:cNvSpPr/>
          <p:nvPr/>
        </p:nvSpPr>
        <p:spPr>
          <a:xfrm>
            <a:off x="8810625" y="3394174"/>
            <a:ext cx="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020" dirty="0"/>
          </a:p>
        </p:txBody>
      </p:sp>
      <p:sp>
        <p:nvSpPr>
          <p:cNvPr id="76" name="Text 53"/>
          <p:cNvSpPr/>
          <p:nvPr/>
        </p:nvSpPr>
        <p:spPr>
          <a:xfrm>
            <a:off x="11601450" y="6515100"/>
            <a:ext cx="434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12/21</a:t>
            </a:r>
            <a:endParaRPr lang="en-US" sz="1050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2EDA2B93-25D8-1E87-C9C4-9F4124AC16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4802" y="826456"/>
            <a:ext cx="5764403" cy="2729661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6B9996BC-5DA2-0FFF-34B6-34D57EA8F3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9039" y="3894550"/>
            <a:ext cx="5943600" cy="27882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762000"/>
            <a:ext cx="914400" cy="381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609600" y="3048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PIPELINE C – KAFKA BEHAVIOUR EVENT ARCHIVAL (STREAMING)ARCHITECTURE</a:t>
            </a:r>
            <a:endParaRPr lang="en-US" sz="2700" dirty="0"/>
          </a:p>
        </p:txBody>
      </p:sp>
      <p:sp>
        <p:nvSpPr>
          <p:cNvPr id="55" name="Text 19"/>
          <p:cNvSpPr/>
          <p:nvPr/>
        </p:nvSpPr>
        <p:spPr>
          <a:xfrm>
            <a:off x="11601450" y="6515100"/>
            <a:ext cx="434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13/21</a:t>
            </a:r>
            <a:endParaRPr lang="en-US" sz="105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A083556-66CD-B6FA-5CC5-14183BCAFD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783" y="2171571"/>
            <a:ext cx="10486433" cy="23044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D1E3C9B-65AC-12FA-839C-58E47EE18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E9C71714-186F-A7ED-B479-6FAD98701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762000"/>
            <a:ext cx="914400" cy="38100"/>
          </a:xfrm>
          <a:prstGeom prst="rect">
            <a:avLst/>
          </a:prstGeom>
        </p:spPr>
      </p:pic>
      <p:pic>
        <p:nvPicPr>
          <p:cNvPr id="4" name="Image 33" descr="preencoded.png">
            <a:extLst>
              <a:ext uri="{FF2B5EF4-FFF2-40B4-BE49-F238E27FC236}">
                <a16:creationId xmlns:a16="http://schemas.microsoft.com/office/drawing/2014/main" id="{482DB9EB-2512-E6C0-1537-D4B2961FF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2E3C2FCF-3DF4-FCF5-FEF6-C4FA01A05C55}"/>
              </a:ext>
            </a:extLst>
          </p:cNvPr>
          <p:cNvSpPr/>
          <p:nvPr/>
        </p:nvSpPr>
        <p:spPr>
          <a:xfrm>
            <a:off x="609600" y="3048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PIPELINE C – FUNCTIONAL FLOW</a:t>
            </a:r>
            <a:endParaRPr lang="en-US" sz="2700" dirty="0"/>
          </a:p>
        </p:txBody>
      </p:sp>
      <p:sp>
        <p:nvSpPr>
          <p:cNvPr id="6" name="Text 19">
            <a:extLst>
              <a:ext uri="{FF2B5EF4-FFF2-40B4-BE49-F238E27FC236}">
                <a16:creationId xmlns:a16="http://schemas.microsoft.com/office/drawing/2014/main" id="{2599B7A6-ED34-D527-797B-D117BB23051A}"/>
              </a:ext>
            </a:extLst>
          </p:cNvPr>
          <p:cNvSpPr/>
          <p:nvPr/>
        </p:nvSpPr>
        <p:spPr>
          <a:xfrm>
            <a:off x="11601450" y="6515100"/>
            <a:ext cx="434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13/21</a:t>
            </a:r>
            <a:endParaRPr lang="en-US" sz="10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E95A7E-16BC-C96C-1241-6995D427D9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0489" y="971550"/>
            <a:ext cx="59436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14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838200"/>
            <a:ext cx="914400" cy="381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609600" y="3810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PIPELINE C - FUNCTIONAL FLOW</a:t>
            </a:r>
            <a:endParaRPr lang="en-US" sz="2700" dirty="0"/>
          </a:p>
        </p:txBody>
      </p:sp>
      <p:sp>
        <p:nvSpPr>
          <p:cNvPr id="48" name="Text 16"/>
          <p:cNvSpPr/>
          <p:nvPr/>
        </p:nvSpPr>
        <p:spPr>
          <a:xfrm>
            <a:off x="11601450" y="6515100"/>
            <a:ext cx="434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14/21</a:t>
            </a:r>
            <a:endParaRPr lang="en-US" sz="10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8517E39-E231-872C-BBA2-1EB92530A6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0489" y="971550"/>
            <a:ext cx="59436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838200"/>
            <a:ext cx="914400" cy="38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695700"/>
            <a:ext cx="3124200" cy="17526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PIPELINE C - OUTPUT</a:t>
            </a:r>
            <a:endParaRPr lang="en-US" sz="27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97B0ED7-B179-7EE6-D01B-27C6956301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435" y="952500"/>
            <a:ext cx="5697154" cy="254966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C7EDF60-3E77-8BA5-987A-8A9186B2A9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9412" y="876300"/>
            <a:ext cx="5726293" cy="258142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395A139F-5187-A736-FDA5-E1E4373F87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435" y="3980233"/>
            <a:ext cx="5697154" cy="257406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0D007D1-FB36-16FB-754D-28289EDFCC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7254" y="4323900"/>
            <a:ext cx="5181602" cy="12714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8382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19200"/>
            <a:ext cx="142875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600200"/>
            <a:ext cx="5181600" cy="838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590800"/>
            <a:ext cx="5181600" cy="838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581400"/>
            <a:ext cx="5181600" cy="838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686300"/>
            <a:ext cx="238125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5067300"/>
            <a:ext cx="5181600" cy="1143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181100"/>
            <a:ext cx="5181600" cy="5105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1866900"/>
            <a:ext cx="2286000" cy="1143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9525" y="2019300"/>
            <a:ext cx="2857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67800" y="1866900"/>
            <a:ext cx="2286000" cy="1143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67925" y="2019300"/>
            <a:ext cx="2857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29400" y="3238500"/>
            <a:ext cx="4724400" cy="1828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48688" y="3238500"/>
            <a:ext cx="885825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34450" y="3714750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29625" y="4000500"/>
            <a:ext cx="1123950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34450" y="4476750"/>
            <a:ext cx="1143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20075" y="4762500"/>
            <a:ext cx="7620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34475" y="4762500"/>
            <a:ext cx="62865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43713" y="5562600"/>
            <a:ext cx="17145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20175" y="5562600"/>
            <a:ext cx="2286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082338" y="5562600"/>
            <a:ext cx="228600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LAYER (PLAY FRAMEWORK)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828675" y="118110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Endpoints</a:t>
            </a:r>
            <a:endParaRPr lang="en-US" sz="1500" dirty="0"/>
          </a:p>
        </p:txBody>
      </p:sp>
      <p:sp>
        <p:nvSpPr>
          <p:cNvPr id="29" name="Text 2"/>
          <p:cNvSpPr/>
          <p:nvPr/>
        </p:nvSpPr>
        <p:spPr>
          <a:xfrm>
            <a:off x="838200" y="1752600"/>
            <a:ext cx="525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D1C5"/>
                </a:solidFill>
                <a:highlight>
                  <a:srgbClr val="006D77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GET</a:t>
            </a:r>
            <a:endParaRPr lang="en-US" sz="1200" dirty="0"/>
          </a:p>
        </p:txBody>
      </p:sp>
      <p:sp>
        <p:nvSpPr>
          <p:cNvPr id="30" name="Text 3"/>
          <p:cNvSpPr/>
          <p:nvPr/>
        </p:nvSpPr>
        <p:spPr>
          <a:xfrm>
            <a:off x="1314450" y="1809750"/>
            <a:ext cx="2524244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/customer/{customer_id}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762000" y="2095500"/>
            <a:ext cx="58521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Returns customer transaction data</a:t>
            </a:r>
            <a:endParaRPr lang="en-US" sz="1050" dirty="0"/>
          </a:p>
        </p:txBody>
      </p:sp>
      <p:sp>
        <p:nvSpPr>
          <p:cNvPr id="32" name="Text 5"/>
          <p:cNvSpPr/>
          <p:nvPr/>
        </p:nvSpPr>
        <p:spPr>
          <a:xfrm>
            <a:off x="838200" y="2743200"/>
            <a:ext cx="525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D1C5"/>
                </a:solidFill>
                <a:highlight>
                  <a:srgbClr val="006D77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GET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1314450" y="2800350"/>
            <a:ext cx="3182719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/summary/{date}/{customer_id}</a:t>
            </a:r>
            <a:endParaRPr lang="en-US" sz="1200" dirty="0"/>
          </a:p>
        </p:txBody>
      </p:sp>
      <p:sp>
        <p:nvSpPr>
          <p:cNvPr id="34" name="Text 7"/>
          <p:cNvSpPr/>
          <p:nvPr/>
        </p:nvSpPr>
        <p:spPr>
          <a:xfrm>
            <a:off x="762000" y="3086100"/>
            <a:ext cx="4876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Returns customer daily summary</a:t>
            </a:r>
            <a:endParaRPr lang="en-US" sz="1050" dirty="0"/>
          </a:p>
        </p:txBody>
      </p:sp>
      <p:sp>
        <p:nvSpPr>
          <p:cNvPr id="35" name="Text 8"/>
          <p:cNvSpPr/>
          <p:nvPr/>
        </p:nvSpPr>
        <p:spPr>
          <a:xfrm>
            <a:off x="838200" y="3733800"/>
            <a:ext cx="525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D1C5"/>
                </a:solidFill>
                <a:highlight>
                  <a:srgbClr val="006D77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GET</a:t>
            </a:r>
            <a:endParaRPr lang="en-US" sz="1200" dirty="0"/>
          </a:p>
        </p:txBody>
      </p:sp>
      <p:sp>
        <p:nvSpPr>
          <p:cNvPr id="36" name="Text 9"/>
          <p:cNvSpPr/>
          <p:nvPr/>
        </p:nvSpPr>
        <p:spPr>
          <a:xfrm>
            <a:off x="1314450" y="3790950"/>
            <a:ext cx="3182719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/events/{customer_id}?limit=n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762000" y="4076700"/>
            <a:ext cx="4876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Fetch last n behaviour events</a:t>
            </a:r>
            <a:endParaRPr lang="en-US" sz="1050" dirty="0"/>
          </a:p>
        </p:txBody>
      </p:sp>
      <p:sp>
        <p:nvSpPr>
          <p:cNvPr id="38" name="Text 11"/>
          <p:cNvSpPr/>
          <p:nvPr/>
        </p:nvSpPr>
        <p:spPr>
          <a:xfrm>
            <a:off x="923925" y="464820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Implementation Details</a:t>
            </a:r>
            <a:endParaRPr lang="en-US" sz="1500" dirty="0"/>
          </a:p>
        </p:txBody>
      </p:sp>
      <p:sp>
        <p:nvSpPr>
          <p:cNvPr id="39" name="Text 12"/>
          <p:cNvSpPr/>
          <p:nvPr/>
        </p:nvSpPr>
        <p:spPr>
          <a:xfrm>
            <a:off x="781050" y="5219700"/>
            <a:ext cx="6080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ParquetReader (no Spark)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781050" y="5524500"/>
            <a:ext cx="6080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Row-to-case-class mapping using safe Option wrappers</a:t>
            </a:r>
            <a:endParaRPr lang="en-US" sz="1200" dirty="0"/>
          </a:p>
        </p:txBody>
      </p:sp>
      <p:sp>
        <p:nvSpPr>
          <p:cNvPr id="41" name="Text 14"/>
          <p:cNvSpPr/>
          <p:nvPr/>
        </p:nvSpPr>
        <p:spPr>
          <a:xfrm>
            <a:off x="781050" y="5829300"/>
            <a:ext cx="6080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INT96 timestamp decoding</a:t>
            </a:r>
            <a:endParaRPr lang="en-US" sz="1200" dirty="0"/>
          </a:p>
        </p:txBody>
      </p:sp>
      <p:sp>
        <p:nvSpPr>
          <p:cNvPr id="42" name="Text 15"/>
          <p:cNvSpPr/>
          <p:nvPr/>
        </p:nvSpPr>
        <p:spPr>
          <a:xfrm>
            <a:off x="6156960" y="1409700"/>
            <a:ext cx="5669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Layer Architecture</a:t>
            </a:r>
            <a:endParaRPr lang="en-US" sz="1500" dirty="0"/>
          </a:p>
        </p:txBody>
      </p:sp>
      <p:sp>
        <p:nvSpPr>
          <p:cNvPr id="43" name="Text 16"/>
          <p:cNvSpPr/>
          <p:nvPr/>
        </p:nvSpPr>
        <p:spPr>
          <a:xfrm>
            <a:off x="6583680" y="2438400"/>
            <a:ext cx="2377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Play Framework</a:t>
            </a:r>
            <a:endParaRPr lang="en-US" sz="1200" dirty="0"/>
          </a:p>
        </p:txBody>
      </p:sp>
      <p:sp>
        <p:nvSpPr>
          <p:cNvPr id="44" name="Text 17"/>
          <p:cNvSpPr/>
          <p:nvPr/>
        </p:nvSpPr>
        <p:spPr>
          <a:xfrm>
            <a:off x="6583680" y="2705100"/>
            <a:ext cx="23774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Controllers</a:t>
            </a:r>
            <a:endParaRPr lang="en-US" sz="900" dirty="0"/>
          </a:p>
        </p:txBody>
      </p:sp>
      <p:sp>
        <p:nvSpPr>
          <p:cNvPr id="45" name="Text 18"/>
          <p:cNvSpPr/>
          <p:nvPr/>
        </p:nvSpPr>
        <p:spPr>
          <a:xfrm>
            <a:off x="9220200" y="2438400"/>
            <a:ext cx="1981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Routing</a:t>
            </a:r>
            <a:endParaRPr lang="en-US" sz="1200" dirty="0"/>
          </a:p>
        </p:txBody>
      </p:sp>
      <p:sp>
        <p:nvSpPr>
          <p:cNvPr id="46" name="Text 19"/>
          <p:cNvSpPr/>
          <p:nvPr/>
        </p:nvSpPr>
        <p:spPr>
          <a:xfrm>
            <a:off x="9022080" y="2705100"/>
            <a:ext cx="23774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Endpoint Mapping</a:t>
            </a:r>
            <a:endParaRPr lang="en-US" sz="900" dirty="0"/>
          </a:p>
        </p:txBody>
      </p:sp>
      <p:sp>
        <p:nvSpPr>
          <p:cNvPr id="47" name="Text 20"/>
          <p:cNvSpPr/>
          <p:nvPr/>
        </p:nvSpPr>
        <p:spPr>
          <a:xfrm>
            <a:off x="8701088" y="3314700"/>
            <a:ext cx="6972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Layer</a:t>
            </a:r>
            <a:endParaRPr lang="en-US" sz="1050" dirty="0"/>
          </a:p>
        </p:txBody>
      </p:sp>
      <p:sp>
        <p:nvSpPr>
          <p:cNvPr id="48" name="Text 21"/>
          <p:cNvSpPr/>
          <p:nvPr/>
        </p:nvSpPr>
        <p:spPr>
          <a:xfrm>
            <a:off x="8582025" y="4076700"/>
            <a:ext cx="9829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Layer</a:t>
            </a:r>
            <a:endParaRPr lang="en-US" sz="1050" dirty="0"/>
          </a:p>
        </p:txBody>
      </p:sp>
      <p:sp>
        <p:nvSpPr>
          <p:cNvPr id="49" name="Text 22"/>
          <p:cNvSpPr/>
          <p:nvPr/>
        </p:nvSpPr>
        <p:spPr>
          <a:xfrm>
            <a:off x="8334375" y="4838700"/>
            <a:ext cx="6400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Cassandra</a:t>
            </a:r>
            <a:endParaRPr lang="en-US" sz="900" dirty="0"/>
          </a:p>
        </p:txBody>
      </p:sp>
      <p:sp>
        <p:nvSpPr>
          <p:cNvPr id="50" name="Text 23"/>
          <p:cNvSpPr/>
          <p:nvPr/>
        </p:nvSpPr>
        <p:spPr>
          <a:xfrm>
            <a:off x="9248775" y="4838700"/>
            <a:ext cx="4800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Parquet</a:t>
            </a:r>
            <a:endParaRPr lang="en-US" sz="900" dirty="0"/>
          </a:p>
        </p:txBody>
      </p:sp>
      <p:sp>
        <p:nvSpPr>
          <p:cNvPr id="51" name="Text 24"/>
          <p:cNvSpPr/>
          <p:nvPr/>
        </p:nvSpPr>
        <p:spPr>
          <a:xfrm>
            <a:off x="6629400" y="5219700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Benefits</a:t>
            </a:r>
            <a:endParaRPr lang="en-US" sz="1350" dirty="0"/>
          </a:p>
        </p:txBody>
      </p:sp>
      <p:sp>
        <p:nvSpPr>
          <p:cNvPr id="52" name="Text 25"/>
          <p:cNvSpPr/>
          <p:nvPr/>
        </p:nvSpPr>
        <p:spPr>
          <a:xfrm>
            <a:off x="6569393" y="5905500"/>
            <a:ext cx="7200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Lightweight</a:t>
            </a:r>
            <a:endParaRPr lang="en-US" sz="900" dirty="0"/>
          </a:p>
        </p:txBody>
      </p:sp>
      <p:sp>
        <p:nvSpPr>
          <p:cNvPr id="53" name="Text 26"/>
          <p:cNvSpPr/>
          <p:nvPr/>
        </p:nvSpPr>
        <p:spPr>
          <a:xfrm>
            <a:off x="8831580" y="5905500"/>
            <a:ext cx="6057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Type-Safe</a:t>
            </a:r>
            <a:endParaRPr lang="en-US" sz="900" dirty="0"/>
          </a:p>
        </p:txBody>
      </p:sp>
      <p:sp>
        <p:nvSpPr>
          <p:cNvPr id="54" name="Text 27"/>
          <p:cNvSpPr/>
          <p:nvPr/>
        </p:nvSpPr>
        <p:spPr>
          <a:xfrm>
            <a:off x="11008043" y="5905500"/>
            <a:ext cx="3771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Async</a:t>
            </a:r>
            <a:endParaRPr lang="en-US" sz="900" dirty="0"/>
          </a:p>
        </p:txBody>
      </p:sp>
      <p:sp>
        <p:nvSpPr>
          <p:cNvPr id="55" name="Text 28"/>
          <p:cNvSpPr/>
          <p:nvPr/>
        </p:nvSpPr>
        <p:spPr>
          <a:xfrm>
            <a:off x="11601450" y="6515100"/>
            <a:ext cx="434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16/21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7620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28700"/>
            <a:ext cx="3555950" cy="838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18110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950" y="1028700"/>
            <a:ext cx="3555950" cy="838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0350" y="118110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6301" y="1028700"/>
            <a:ext cx="3556099" cy="838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8701" y="118110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247900"/>
            <a:ext cx="50673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3048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LAYER OUTPUT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066800" y="1181100"/>
            <a:ext cx="13830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Data</a:t>
            </a:r>
            <a:endParaRPr lang="en-US" sz="1350" dirty="0"/>
          </a:p>
        </p:txBody>
      </p:sp>
      <p:sp>
        <p:nvSpPr>
          <p:cNvPr id="22" name="Text 2"/>
          <p:cNvSpPr/>
          <p:nvPr/>
        </p:nvSpPr>
        <p:spPr>
          <a:xfrm>
            <a:off x="762000" y="1524000"/>
            <a:ext cx="39013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/customer/{customer_id}</a:t>
            </a:r>
            <a:endParaRPr lang="en-US" sz="1050" dirty="0"/>
          </a:p>
        </p:txBody>
      </p:sp>
      <p:sp>
        <p:nvSpPr>
          <p:cNvPr id="23" name="Text 3"/>
          <p:cNvSpPr/>
          <p:nvPr/>
        </p:nvSpPr>
        <p:spPr>
          <a:xfrm>
            <a:off x="4775150" y="1181100"/>
            <a:ext cx="14058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Daily Summary</a:t>
            </a:r>
            <a:endParaRPr lang="en-US" sz="1350" dirty="0"/>
          </a:p>
        </p:txBody>
      </p:sp>
      <p:sp>
        <p:nvSpPr>
          <p:cNvPr id="24" name="Text 4"/>
          <p:cNvSpPr/>
          <p:nvPr/>
        </p:nvSpPr>
        <p:spPr>
          <a:xfrm>
            <a:off x="4470350" y="1524000"/>
            <a:ext cx="39013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/summary/{date}/{customer_id}</a:t>
            </a:r>
            <a:endParaRPr lang="en-US" sz="1050" dirty="0"/>
          </a:p>
        </p:txBody>
      </p:sp>
      <p:sp>
        <p:nvSpPr>
          <p:cNvPr id="25" name="Text 5"/>
          <p:cNvSpPr/>
          <p:nvPr/>
        </p:nvSpPr>
        <p:spPr>
          <a:xfrm>
            <a:off x="8483501" y="1181100"/>
            <a:ext cx="14744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 Events</a:t>
            </a:r>
            <a:endParaRPr lang="en-US" sz="1350" dirty="0"/>
          </a:p>
        </p:txBody>
      </p:sp>
      <p:sp>
        <p:nvSpPr>
          <p:cNvPr id="26" name="Text 6"/>
          <p:cNvSpPr/>
          <p:nvPr/>
        </p:nvSpPr>
        <p:spPr>
          <a:xfrm>
            <a:off x="8178701" y="1524000"/>
            <a:ext cx="39015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/events/{customer_id}?limit=n</a:t>
            </a:r>
            <a:endParaRPr lang="en-US" sz="1050" dirty="0"/>
          </a:p>
        </p:txBody>
      </p:sp>
      <p:sp>
        <p:nvSpPr>
          <p:cNvPr id="61" name="Text 41"/>
          <p:cNvSpPr/>
          <p:nvPr/>
        </p:nvSpPr>
        <p:spPr>
          <a:xfrm>
            <a:off x="11601450" y="6515100"/>
            <a:ext cx="434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17/21</a:t>
            </a:r>
            <a:endParaRPr lang="en-US" sz="105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DDB65F06-80ED-61EC-B5BF-087B4B2082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0549" y="2473399"/>
            <a:ext cx="3555950" cy="2118374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20385F28-FE42-94E1-E919-086E39166D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17801" y="2473399"/>
            <a:ext cx="3556099" cy="2118374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1313A5C-8F94-C6B6-B535-67B2A1A9B6C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45352" y="2441579"/>
            <a:ext cx="3556099" cy="21069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8382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09675"/>
            <a:ext cx="1714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638300"/>
            <a:ext cx="5181600" cy="990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790700"/>
            <a:ext cx="1524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781300"/>
            <a:ext cx="5181600" cy="990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933700"/>
            <a:ext cx="1524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924300"/>
            <a:ext cx="5181600" cy="990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076700"/>
            <a:ext cx="1524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5143500"/>
            <a:ext cx="5181600" cy="1181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5343525"/>
            <a:ext cx="17145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5695950"/>
            <a:ext cx="114300" cy="114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6000750"/>
            <a:ext cx="114300" cy="114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1209675"/>
            <a:ext cx="28575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1638300"/>
            <a:ext cx="5181600" cy="3718917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91300" y="1828800"/>
            <a:ext cx="342900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05600" y="1924050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86600" y="2438400"/>
            <a:ext cx="4305300" cy="564059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91300" y="3154859"/>
            <a:ext cx="34290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86550" y="3250109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86600" y="3764459"/>
            <a:ext cx="4305300" cy="564059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91300" y="4480917"/>
            <a:ext cx="342900" cy="342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86550" y="4576167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0800" y="5585817"/>
            <a:ext cx="5181600" cy="12573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3200" y="5785842"/>
            <a:ext cx="171450" cy="1714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53200" y="6157317"/>
            <a:ext cx="1143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48750" y="6157317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53200" y="6500217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48750" y="6500217"/>
            <a:ext cx="13335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DEPLOYMENT PLAN</a:t>
            </a:r>
            <a:endParaRPr lang="en-US" sz="2700" dirty="0"/>
          </a:p>
        </p:txBody>
      </p:sp>
      <p:sp>
        <p:nvSpPr>
          <p:cNvPr id="34" name="Text 1"/>
          <p:cNvSpPr/>
          <p:nvPr/>
        </p:nvSpPr>
        <p:spPr>
          <a:xfrm>
            <a:off x="857250" y="11811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5EEA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Endpoints</a:t>
            </a:r>
            <a:endParaRPr lang="en-US" sz="1800" dirty="0"/>
          </a:p>
        </p:txBody>
      </p:sp>
      <p:sp>
        <p:nvSpPr>
          <p:cNvPr id="35" name="Text 2"/>
          <p:cNvSpPr/>
          <p:nvPr/>
        </p:nvSpPr>
        <p:spPr>
          <a:xfrm>
            <a:off x="1028700" y="1847850"/>
            <a:ext cx="26403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/customer/:customer_id</a:t>
            </a:r>
            <a:endParaRPr lang="en-US" sz="1350" dirty="0"/>
          </a:p>
        </p:txBody>
      </p:sp>
      <p:sp>
        <p:nvSpPr>
          <p:cNvPr id="36" name="Text 3"/>
          <p:cNvSpPr/>
          <p:nvPr/>
        </p:nvSpPr>
        <p:spPr>
          <a:xfrm>
            <a:off x="1143000" y="2247900"/>
            <a:ext cx="5852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Returns customer transaction data</a:t>
            </a:r>
            <a:endParaRPr lang="en-US" sz="1200" dirty="0"/>
          </a:p>
        </p:txBody>
      </p:sp>
      <p:sp>
        <p:nvSpPr>
          <p:cNvPr id="37" name="Text 4"/>
          <p:cNvSpPr/>
          <p:nvPr/>
        </p:nvSpPr>
        <p:spPr>
          <a:xfrm>
            <a:off x="1028700" y="2990850"/>
            <a:ext cx="31889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/summary/:date/:customer_id</a:t>
            </a:r>
            <a:endParaRPr lang="en-US" sz="1350" dirty="0"/>
          </a:p>
        </p:txBody>
      </p:sp>
      <p:sp>
        <p:nvSpPr>
          <p:cNvPr id="38" name="Text 5"/>
          <p:cNvSpPr/>
          <p:nvPr/>
        </p:nvSpPr>
        <p:spPr>
          <a:xfrm>
            <a:off x="1143000" y="3390900"/>
            <a:ext cx="5852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Returns customer daily summary</a:t>
            </a:r>
            <a:endParaRPr lang="en-US" sz="1200" dirty="0"/>
          </a:p>
        </p:txBody>
      </p:sp>
      <p:sp>
        <p:nvSpPr>
          <p:cNvPr id="39" name="Text 6"/>
          <p:cNvSpPr/>
          <p:nvPr/>
        </p:nvSpPr>
        <p:spPr>
          <a:xfrm>
            <a:off x="1028700" y="4133850"/>
            <a:ext cx="32232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/events/{customer_id}?limit=n</a:t>
            </a:r>
            <a:endParaRPr lang="en-US" sz="1350" dirty="0"/>
          </a:p>
        </p:txBody>
      </p:sp>
      <p:sp>
        <p:nvSpPr>
          <p:cNvPr id="40" name="Text 7"/>
          <p:cNvSpPr/>
          <p:nvPr/>
        </p:nvSpPr>
        <p:spPr>
          <a:xfrm>
            <a:off x="1143000" y="4533900"/>
            <a:ext cx="5852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Fetch last n behaviour events</a:t>
            </a:r>
            <a:endParaRPr lang="en-US" sz="1200" dirty="0"/>
          </a:p>
        </p:txBody>
      </p:sp>
      <p:sp>
        <p:nvSpPr>
          <p:cNvPr id="41" name="Text 8"/>
          <p:cNvSpPr/>
          <p:nvPr/>
        </p:nvSpPr>
        <p:spPr>
          <a:xfrm>
            <a:off x="1009650" y="5295900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Deployment Environment</a:t>
            </a:r>
            <a:endParaRPr lang="en-US" sz="1350" dirty="0"/>
          </a:p>
        </p:txBody>
      </p:sp>
      <p:sp>
        <p:nvSpPr>
          <p:cNvPr id="42" name="Text 9"/>
          <p:cNvSpPr/>
          <p:nvPr/>
        </p:nvSpPr>
        <p:spPr>
          <a:xfrm>
            <a:off x="952500" y="5638800"/>
            <a:ext cx="2994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Production: Secure HTTPS endpoints</a:t>
            </a:r>
            <a:endParaRPr lang="en-US" sz="1200" dirty="0"/>
          </a:p>
        </p:txBody>
      </p:sp>
      <p:sp>
        <p:nvSpPr>
          <p:cNvPr id="43" name="Text 10"/>
          <p:cNvSpPr/>
          <p:nvPr/>
        </p:nvSpPr>
        <p:spPr>
          <a:xfrm>
            <a:off x="952500" y="5943600"/>
            <a:ext cx="2468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Staging: Preview for validation</a:t>
            </a:r>
            <a:endParaRPr lang="en-US" sz="1200" dirty="0"/>
          </a:p>
        </p:txBody>
      </p:sp>
      <p:sp>
        <p:nvSpPr>
          <p:cNvPr id="44" name="Text 11"/>
          <p:cNvSpPr/>
          <p:nvPr/>
        </p:nvSpPr>
        <p:spPr>
          <a:xfrm>
            <a:off x="6762750" y="11811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5EEA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Implementation</a:t>
            </a:r>
            <a:endParaRPr lang="en-US" sz="1800" dirty="0"/>
          </a:p>
        </p:txBody>
      </p:sp>
      <p:sp>
        <p:nvSpPr>
          <p:cNvPr id="45" name="Text 12"/>
          <p:cNvSpPr/>
          <p:nvPr/>
        </p:nvSpPr>
        <p:spPr>
          <a:xfrm>
            <a:off x="7086600" y="1828800"/>
            <a:ext cx="4305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ParquetReader</a:t>
            </a:r>
            <a:endParaRPr lang="en-US" sz="1350" dirty="0"/>
          </a:p>
        </p:txBody>
      </p:sp>
      <p:sp>
        <p:nvSpPr>
          <p:cNvPr id="46" name="Text 13"/>
          <p:cNvSpPr/>
          <p:nvPr/>
        </p:nvSpPr>
        <p:spPr>
          <a:xfrm>
            <a:off x="7086600" y="2133600"/>
            <a:ext cx="5166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ParquetReader (no Spark)</a:t>
            </a:r>
            <a:endParaRPr lang="en-US" sz="1200" dirty="0"/>
          </a:p>
        </p:txBody>
      </p:sp>
      <p:sp>
        <p:nvSpPr>
          <p:cNvPr id="47" name="Text 14"/>
          <p:cNvSpPr/>
          <p:nvPr/>
        </p:nvSpPr>
        <p:spPr>
          <a:xfrm>
            <a:off x="7162800" y="2438400"/>
            <a:ext cx="4305300" cy="5640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reader = new ParquetReader.Builder[MyRecord](path) .withTypeInfo(typeInfo) .build()</a:t>
            </a:r>
            <a:endParaRPr lang="en-US" sz="1080" dirty="0"/>
          </a:p>
        </p:txBody>
      </p:sp>
      <p:sp>
        <p:nvSpPr>
          <p:cNvPr id="48" name="Text 15"/>
          <p:cNvSpPr/>
          <p:nvPr/>
        </p:nvSpPr>
        <p:spPr>
          <a:xfrm>
            <a:off x="7086600" y="3154859"/>
            <a:ext cx="5166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Row-to-case-class Mapping</a:t>
            </a:r>
            <a:endParaRPr lang="en-US" sz="1350" dirty="0"/>
          </a:p>
        </p:txBody>
      </p:sp>
      <p:sp>
        <p:nvSpPr>
          <p:cNvPr id="49" name="Text 16"/>
          <p:cNvSpPr/>
          <p:nvPr/>
        </p:nvSpPr>
        <p:spPr>
          <a:xfrm>
            <a:off x="7086600" y="3459659"/>
            <a:ext cx="5166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safe Option wrappers</a:t>
            </a:r>
            <a:endParaRPr lang="en-US" sz="1200" dirty="0"/>
          </a:p>
        </p:txBody>
      </p:sp>
      <p:sp>
        <p:nvSpPr>
          <p:cNvPr id="50" name="Text 17"/>
          <p:cNvSpPr/>
          <p:nvPr/>
        </p:nvSpPr>
        <p:spPr>
          <a:xfrm>
            <a:off x="7162800" y="3764459"/>
            <a:ext cx="4305300" cy="5640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result = Try { MyCaseClass( row.getAs[String]("name"), row.getAs[Option[Int]]("age") ) }</a:t>
            </a:r>
            <a:endParaRPr lang="en-US" sz="1080" dirty="0"/>
          </a:p>
        </p:txBody>
      </p:sp>
      <p:sp>
        <p:nvSpPr>
          <p:cNvPr id="51" name="Text 18"/>
          <p:cNvSpPr/>
          <p:nvPr/>
        </p:nvSpPr>
        <p:spPr>
          <a:xfrm>
            <a:off x="7086600" y="4480917"/>
            <a:ext cx="29946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INT96 Timestamp Decoding</a:t>
            </a:r>
            <a:endParaRPr lang="en-US" sz="1350" dirty="0"/>
          </a:p>
        </p:txBody>
      </p:sp>
      <p:sp>
        <p:nvSpPr>
          <p:cNvPr id="52" name="Text 19"/>
          <p:cNvSpPr/>
          <p:nvPr/>
        </p:nvSpPr>
        <p:spPr>
          <a:xfrm>
            <a:off x="7086600" y="4785717"/>
            <a:ext cx="2994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for legacy timestamp format</a:t>
            </a:r>
            <a:endParaRPr lang="en-US" sz="1200" dirty="0"/>
          </a:p>
        </p:txBody>
      </p:sp>
      <p:sp>
        <p:nvSpPr>
          <p:cNvPr id="53" name="Text 20"/>
          <p:cNvSpPr/>
          <p:nvPr/>
        </p:nvSpPr>
        <p:spPr>
          <a:xfrm>
            <a:off x="6800850" y="5738217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Benefits</a:t>
            </a:r>
            <a:endParaRPr lang="en-US" sz="1350" dirty="0"/>
          </a:p>
        </p:txBody>
      </p:sp>
      <p:sp>
        <p:nvSpPr>
          <p:cNvPr id="54" name="Text 21"/>
          <p:cNvSpPr/>
          <p:nvPr/>
        </p:nvSpPr>
        <p:spPr>
          <a:xfrm>
            <a:off x="6743700" y="6119217"/>
            <a:ext cx="1463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Performance</a:t>
            </a:r>
            <a:endParaRPr lang="en-US" sz="1200" dirty="0"/>
          </a:p>
        </p:txBody>
      </p:sp>
      <p:sp>
        <p:nvSpPr>
          <p:cNvPr id="55" name="Text 22"/>
          <p:cNvSpPr/>
          <p:nvPr/>
        </p:nvSpPr>
        <p:spPr>
          <a:xfrm>
            <a:off x="9277350" y="6119217"/>
            <a:ext cx="960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 Safety</a:t>
            </a:r>
            <a:endParaRPr lang="en-US" sz="1200" dirty="0"/>
          </a:p>
        </p:txBody>
      </p:sp>
      <p:sp>
        <p:nvSpPr>
          <p:cNvPr id="56" name="Text 23"/>
          <p:cNvSpPr/>
          <p:nvPr/>
        </p:nvSpPr>
        <p:spPr>
          <a:xfrm>
            <a:off x="6781800" y="6462117"/>
            <a:ext cx="1280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Modular Design</a:t>
            </a:r>
            <a:endParaRPr lang="en-US" sz="1200" dirty="0"/>
          </a:p>
        </p:txBody>
      </p:sp>
      <p:sp>
        <p:nvSpPr>
          <p:cNvPr id="57" name="Text 24"/>
          <p:cNvSpPr/>
          <p:nvPr/>
        </p:nvSpPr>
        <p:spPr>
          <a:xfrm>
            <a:off x="9258300" y="6462117"/>
            <a:ext cx="845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58" name="Text 25"/>
          <p:cNvSpPr/>
          <p:nvPr/>
        </p:nvSpPr>
        <p:spPr>
          <a:xfrm>
            <a:off x="11601450" y="6515100"/>
            <a:ext cx="434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18/21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8382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181100"/>
            <a:ext cx="3505200" cy="2095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4097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50" y="154305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1181100"/>
            <a:ext cx="3505200" cy="2095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140970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3450" y="154305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200" y="1181100"/>
            <a:ext cx="3505200" cy="2095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5800" y="140970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2963" y="1543050"/>
            <a:ext cx="25717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505200"/>
            <a:ext cx="3505200" cy="2095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" y="373380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43400" y="3505200"/>
            <a:ext cx="3505200" cy="2095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0" y="3733800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43450" y="386715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7200" y="3505200"/>
            <a:ext cx="3505200" cy="2095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5800" y="3733800"/>
            <a:ext cx="571500" cy="571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05825" y="3867150"/>
            <a:ext cx="17145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5905500"/>
            <a:ext cx="10972800" cy="533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6076950"/>
            <a:ext cx="190500" cy="190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0100" y="6096000"/>
            <a:ext cx="1143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 FEATURES IMPLEMENTED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838200" y="2133600"/>
            <a:ext cx="365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multi-source ETL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838200" y="2476500"/>
            <a:ext cx="3048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Unified data processing from multiple sources with consistent data models and transformations.</a:t>
            </a:r>
            <a:endParaRPr lang="en-US" sz="1050" dirty="0"/>
          </a:p>
        </p:txBody>
      </p:sp>
      <p:sp>
        <p:nvSpPr>
          <p:cNvPr id="29" name="Text 3"/>
          <p:cNvSpPr/>
          <p:nvPr/>
        </p:nvSpPr>
        <p:spPr>
          <a:xfrm>
            <a:off x="4572000" y="2133600"/>
            <a:ext cx="365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+ batch pipelines</a:t>
            </a:r>
            <a:endParaRPr lang="en-US" sz="1500" dirty="0"/>
          </a:p>
        </p:txBody>
      </p:sp>
      <p:sp>
        <p:nvSpPr>
          <p:cNvPr id="30" name="Text 4"/>
          <p:cNvSpPr/>
          <p:nvPr/>
        </p:nvSpPr>
        <p:spPr>
          <a:xfrm>
            <a:off x="4572000" y="2476500"/>
            <a:ext cx="3048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data processing architecture supporting both real-time stream processing and traditional batch jobs.</a:t>
            </a:r>
            <a:endParaRPr lang="en-US" sz="1050" dirty="0"/>
          </a:p>
        </p:txBody>
      </p:sp>
      <p:sp>
        <p:nvSpPr>
          <p:cNvPr id="31" name="Text 5"/>
          <p:cNvSpPr/>
          <p:nvPr/>
        </p:nvSpPr>
        <p:spPr>
          <a:xfrm>
            <a:off x="8305800" y="2133600"/>
            <a:ext cx="365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lake design</a:t>
            </a:r>
            <a:endParaRPr lang="en-US" sz="1500" dirty="0"/>
          </a:p>
        </p:txBody>
      </p:sp>
      <p:sp>
        <p:nvSpPr>
          <p:cNvPr id="32" name="Text 6"/>
          <p:cNvSpPr/>
          <p:nvPr/>
        </p:nvSpPr>
        <p:spPr>
          <a:xfrm>
            <a:off x="8305800" y="2476500"/>
            <a:ext cx="3048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data repository with optimized storage formats for various data types and access patterns.</a:t>
            </a:r>
            <a:endParaRPr lang="en-US" sz="1050" dirty="0"/>
          </a:p>
        </p:txBody>
      </p:sp>
      <p:sp>
        <p:nvSpPr>
          <p:cNvPr id="33" name="Text 7"/>
          <p:cNvSpPr/>
          <p:nvPr/>
        </p:nvSpPr>
        <p:spPr>
          <a:xfrm>
            <a:off x="838200" y="4457700"/>
            <a:ext cx="365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Precomputed customer profiles</a:t>
            </a:r>
            <a:endParaRPr lang="en-US" sz="1500" dirty="0"/>
          </a:p>
        </p:txBody>
      </p:sp>
      <p:sp>
        <p:nvSpPr>
          <p:cNvPr id="34" name="Text 8"/>
          <p:cNvSpPr/>
          <p:nvPr/>
        </p:nvSpPr>
        <p:spPr>
          <a:xfrm>
            <a:off x="838200" y="4800600"/>
            <a:ext cx="3048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Aggregated customer data materialized for faster query response and personalized customer experiences.</a:t>
            </a:r>
            <a:endParaRPr lang="en-US" sz="1050" dirty="0"/>
          </a:p>
        </p:txBody>
      </p:sp>
      <p:sp>
        <p:nvSpPr>
          <p:cNvPr id="35" name="Text 9"/>
          <p:cNvSpPr/>
          <p:nvPr/>
        </p:nvSpPr>
        <p:spPr>
          <a:xfrm>
            <a:off x="4572000" y="4457700"/>
            <a:ext cx="365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Behaviour event archival</a:t>
            </a:r>
            <a:endParaRPr lang="en-US" sz="1500" dirty="0"/>
          </a:p>
        </p:txBody>
      </p:sp>
      <p:sp>
        <p:nvSpPr>
          <p:cNvPr id="36" name="Text 10"/>
          <p:cNvSpPr/>
          <p:nvPr/>
        </p:nvSpPr>
        <p:spPr>
          <a:xfrm>
            <a:off x="4572000" y="4800600"/>
            <a:ext cx="3048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logging and storage of customer behavior events for analytics and historical analysis.</a:t>
            </a:r>
            <a:endParaRPr lang="en-US" sz="1050" dirty="0"/>
          </a:p>
        </p:txBody>
      </p:sp>
      <p:sp>
        <p:nvSpPr>
          <p:cNvPr id="37" name="Text 11"/>
          <p:cNvSpPr/>
          <p:nvPr/>
        </p:nvSpPr>
        <p:spPr>
          <a:xfrm>
            <a:off x="8305800" y="4457700"/>
            <a:ext cx="365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API exposure</a:t>
            </a:r>
            <a:endParaRPr lang="en-US" sz="1500" dirty="0"/>
          </a:p>
        </p:txBody>
      </p:sp>
      <p:sp>
        <p:nvSpPr>
          <p:cNvPr id="38" name="Text 12"/>
          <p:cNvSpPr/>
          <p:nvPr/>
        </p:nvSpPr>
        <p:spPr>
          <a:xfrm>
            <a:off x="8305800" y="4800600"/>
            <a:ext cx="3048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Lightweight, scalable RESTful APIs for efficient data access and integration with client applications.</a:t>
            </a:r>
            <a:endParaRPr lang="en-US" sz="1050" dirty="0"/>
          </a:p>
        </p:txBody>
      </p:sp>
      <p:sp>
        <p:nvSpPr>
          <p:cNvPr id="39" name="Text 13"/>
          <p:cNvSpPr/>
          <p:nvPr/>
        </p:nvSpPr>
        <p:spPr>
          <a:xfrm>
            <a:off x="1028700" y="6057900"/>
            <a:ext cx="9646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end-to-end data engineering solution with scalable architecture, efficient data processing, and accessible APIs.</a:t>
            </a: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11601450" y="6515100"/>
            <a:ext cx="434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19/21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8382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181100"/>
            <a:ext cx="5181600" cy="1143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9718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302895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5052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356235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0386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409575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57200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462915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510540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516255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563880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569595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638300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6050" y="1695450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2476500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6050" y="2533650"/>
            <a:ext cx="19050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124200"/>
            <a:ext cx="3810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6050" y="3181350"/>
            <a:ext cx="190500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962400"/>
            <a:ext cx="3810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6050" y="4019550"/>
            <a:ext cx="190500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4610100"/>
            <a:ext cx="381000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6050" y="4667250"/>
            <a:ext cx="190500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5334000"/>
            <a:ext cx="5181600" cy="1028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5486400"/>
            <a:ext cx="142875" cy="2667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 &amp; FUTURE SCOPE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762000" y="1181100"/>
            <a:ext cx="5029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5EEA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Summary</a:t>
            </a:r>
            <a:endParaRPr lang="en-US" sz="1800" dirty="0"/>
          </a:p>
        </p:txBody>
      </p:sp>
      <p:sp>
        <p:nvSpPr>
          <p:cNvPr id="33" name="Text 2"/>
          <p:cNvSpPr/>
          <p:nvPr/>
        </p:nvSpPr>
        <p:spPr>
          <a:xfrm>
            <a:off x="762000" y="1638300"/>
            <a:ext cx="50292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Successfully built a unified consumer data ecosystem that consolidates customer master data, transactions, and behavioral events into a cohesive platform.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609600" y="255270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Achievements</a:t>
            </a:r>
            <a:endParaRPr lang="en-US" sz="1500" dirty="0"/>
          </a:p>
        </p:txBody>
      </p:sp>
      <p:sp>
        <p:nvSpPr>
          <p:cNvPr id="35" name="Text 4"/>
          <p:cNvSpPr/>
          <p:nvPr/>
        </p:nvSpPr>
        <p:spPr>
          <a:xfrm>
            <a:off x="1143000" y="3048000"/>
            <a:ext cx="35775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multi-source ETL implementation</a:t>
            </a:r>
            <a:endParaRPr lang="en-US" sz="1200" dirty="0"/>
          </a:p>
        </p:txBody>
      </p:sp>
      <p:sp>
        <p:nvSpPr>
          <p:cNvPr id="36" name="Text 5"/>
          <p:cNvSpPr/>
          <p:nvPr/>
        </p:nvSpPr>
        <p:spPr>
          <a:xfrm>
            <a:off x="1143000" y="3581400"/>
            <a:ext cx="35090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+ batch data processing pipelines</a:t>
            </a:r>
            <a:endParaRPr lang="en-US" sz="1200" dirty="0"/>
          </a:p>
        </p:txBody>
      </p:sp>
      <p:sp>
        <p:nvSpPr>
          <p:cNvPr id="37" name="Text 6"/>
          <p:cNvSpPr/>
          <p:nvPr/>
        </p:nvSpPr>
        <p:spPr>
          <a:xfrm>
            <a:off x="1143000" y="4114800"/>
            <a:ext cx="3063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lake design with Parquet storage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1143000" y="4648200"/>
            <a:ext cx="39090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Precomputed customer profiles for faster access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1143000" y="5181600"/>
            <a:ext cx="2606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Behaviour event archival system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1143000" y="5715000"/>
            <a:ext cx="3337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API exposure for data consumption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6400800" y="11811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295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2" name="Text 11"/>
          <p:cNvSpPr/>
          <p:nvPr/>
        </p:nvSpPr>
        <p:spPr>
          <a:xfrm>
            <a:off x="6934200" y="1638300"/>
            <a:ext cx="4648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Enhanced Analytics</a:t>
            </a:r>
            <a:endParaRPr lang="en-US" sz="1350" dirty="0"/>
          </a:p>
        </p:txBody>
      </p:sp>
      <p:sp>
        <p:nvSpPr>
          <p:cNvPr id="43" name="Text 12"/>
          <p:cNvSpPr/>
          <p:nvPr/>
        </p:nvSpPr>
        <p:spPr>
          <a:xfrm>
            <a:off x="6934200" y="1943100"/>
            <a:ext cx="4648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advanced ML models for customer behavior prediction and segmentation</a:t>
            </a:r>
            <a:endParaRPr lang="en-US" sz="1050" dirty="0"/>
          </a:p>
        </p:txBody>
      </p:sp>
      <p:sp>
        <p:nvSpPr>
          <p:cNvPr id="44" name="Text 13"/>
          <p:cNvSpPr/>
          <p:nvPr/>
        </p:nvSpPr>
        <p:spPr>
          <a:xfrm>
            <a:off x="6934200" y="2476500"/>
            <a:ext cx="44100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Streaming Enrichment</a:t>
            </a:r>
            <a:endParaRPr lang="en-US" sz="1350" dirty="0"/>
          </a:p>
        </p:txBody>
      </p:sp>
      <p:sp>
        <p:nvSpPr>
          <p:cNvPr id="45" name="Text 14"/>
          <p:cNvSpPr/>
          <p:nvPr/>
        </p:nvSpPr>
        <p:spPr>
          <a:xfrm>
            <a:off x="6934200" y="2781300"/>
            <a:ext cx="52920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real-time data enrichment capabilities for immediate customer insights</a:t>
            </a:r>
            <a:endParaRPr lang="en-US" sz="1050" dirty="0"/>
          </a:p>
        </p:txBody>
      </p:sp>
      <p:sp>
        <p:nvSpPr>
          <p:cNvPr id="46" name="Text 15"/>
          <p:cNvSpPr/>
          <p:nvPr/>
        </p:nvSpPr>
        <p:spPr>
          <a:xfrm>
            <a:off x="6934200" y="3124200"/>
            <a:ext cx="4648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Gateway</a:t>
            </a:r>
            <a:endParaRPr lang="en-US" sz="1350" dirty="0"/>
          </a:p>
        </p:txBody>
      </p:sp>
      <p:sp>
        <p:nvSpPr>
          <p:cNvPr id="47" name="Text 16"/>
          <p:cNvSpPr/>
          <p:nvPr/>
        </p:nvSpPr>
        <p:spPr>
          <a:xfrm>
            <a:off x="6934200" y="3429000"/>
            <a:ext cx="4648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comprehensive API gateway with rate limiting, caching, and monitoring</a:t>
            </a:r>
            <a:endParaRPr lang="en-US" sz="1050" dirty="0"/>
          </a:p>
        </p:txBody>
      </p:sp>
      <p:sp>
        <p:nvSpPr>
          <p:cNvPr id="48" name="Text 17"/>
          <p:cNvSpPr/>
          <p:nvPr/>
        </p:nvSpPr>
        <p:spPr>
          <a:xfrm>
            <a:off x="6934200" y="3962400"/>
            <a:ext cx="4457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Migration</a:t>
            </a:r>
            <a:endParaRPr lang="en-US" sz="1350" dirty="0"/>
          </a:p>
        </p:txBody>
      </p:sp>
      <p:sp>
        <p:nvSpPr>
          <p:cNvPr id="49" name="Text 18"/>
          <p:cNvSpPr/>
          <p:nvPr/>
        </p:nvSpPr>
        <p:spPr>
          <a:xfrm>
            <a:off x="6934200" y="4267200"/>
            <a:ext cx="5349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Migrate to cloud platform for scalable infrastructure and global accessibility</a:t>
            </a:r>
            <a:endParaRPr lang="en-US" sz="1050" dirty="0"/>
          </a:p>
        </p:txBody>
      </p:sp>
      <p:sp>
        <p:nvSpPr>
          <p:cNvPr id="50" name="Text 19"/>
          <p:cNvSpPr/>
          <p:nvPr/>
        </p:nvSpPr>
        <p:spPr>
          <a:xfrm>
            <a:off x="6934200" y="4610100"/>
            <a:ext cx="4983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Quality Framework</a:t>
            </a:r>
            <a:endParaRPr lang="en-US" sz="1350" dirty="0"/>
          </a:p>
        </p:txBody>
      </p:sp>
      <p:sp>
        <p:nvSpPr>
          <p:cNvPr id="51" name="Text 20"/>
          <p:cNvSpPr/>
          <p:nvPr/>
        </p:nvSpPr>
        <p:spPr>
          <a:xfrm>
            <a:off x="6934200" y="4914900"/>
            <a:ext cx="4983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comprehensive data quality monitoring and alerting system</a:t>
            </a:r>
            <a:endParaRPr lang="en-US" sz="1050" dirty="0"/>
          </a:p>
        </p:txBody>
      </p:sp>
      <p:sp>
        <p:nvSpPr>
          <p:cNvPr id="52" name="Text 21"/>
          <p:cNvSpPr/>
          <p:nvPr/>
        </p:nvSpPr>
        <p:spPr>
          <a:xfrm>
            <a:off x="6810375" y="5486400"/>
            <a:ext cx="1463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Vision</a:t>
            </a:r>
            <a:endParaRPr lang="en-US" sz="1350" dirty="0"/>
          </a:p>
        </p:txBody>
      </p:sp>
      <p:sp>
        <p:nvSpPr>
          <p:cNvPr id="53" name="Text 22"/>
          <p:cNvSpPr/>
          <p:nvPr/>
        </p:nvSpPr>
        <p:spPr>
          <a:xfrm>
            <a:off x="6553200" y="5829300"/>
            <a:ext cx="4876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 this ecosystem into a comprehensive customer data platform that powers personalized experiences across all touchpoints.</a:t>
            </a:r>
            <a:endParaRPr lang="en-US" sz="1050" dirty="0"/>
          </a:p>
        </p:txBody>
      </p:sp>
      <p:sp>
        <p:nvSpPr>
          <p:cNvPr id="54" name="Text 23"/>
          <p:cNvSpPr/>
          <p:nvPr/>
        </p:nvSpPr>
        <p:spPr>
          <a:xfrm>
            <a:off x="11601450" y="6515100"/>
            <a:ext cx="434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20/21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866900"/>
            <a:ext cx="1219200" cy="38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609600" y="647700"/>
            <a:ext cx="1097280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9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8" name="Text 1"/>
          <p:cNvSpPr/>
          <p:nvPr/>
        </p:nvSpPr>
        <p:spPr>
          <a:xfrm>
            <a:off x="2895600" y="2286000"/>
            <a:ext cx="6400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11601450" y="6515100"/>
            <a:ext cx="434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21/21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1394</TotalTime>
  <Words>782</Words>
  <Application>Microsoft Macintosh PowerPoint</Application>
  <PresentationFormat>Widescreen</PresentationFormat>
  <Paragraphs>214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Roboto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RAC IT</cp:lastModifiedBy>
  <cp:revision>5</cp:revision>
  <dcterms:created xsi:type="dcterms:W3CDTF">2025-12-10T06:04:40Z</dcterms:created>
  <dcterms:modified xsi:type="dcterms:W3CDTF">2025-12-11T05:20:51Z</dcterms:modified>
</cp:coreProperties>
</file>